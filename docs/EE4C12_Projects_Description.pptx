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notesMasterIdLst>
    <p:notesMasterId r:id="rId16"/>
  </p:notesMasterIdLst>
  <p:handoutMasterIdLst>
    <p:handoutMasterId r:id="rId17"/>
  </p:handoutMasterIdLst>
  <p:sldIdLst>
    <p:sldId id="390" r:id="rId6"/>
    <p:sldId id="266" r:id="rId7"/>
    <p:sldId id="400" r:id="rId8"/>
    <p:sldId id="402" r:id="rId9"/>
    <p:sldId id="397" r:id="rId10"/>
    <p:sldId id="398" r:id="rId11"/>
    <p:sldId id="404" r:id="rId12"/>
    <p:sldId id="401" r:id="rId13"/>
    <p:sldId id="399" r:id="rId14"/>
    <p:sldId id="405"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C7DD0B0-C017-417F-B524-AACCF4806326}">
          <p14:sldIdLst>
            <p14:sldId id="390"/>
            <p14:sldId id="266"/>
            <p14:sldId id="400"/>
            <p14:sldId id="402"/>
            <p14:sldId id="397"/>
            <p14:sldId id="398"/>
            <p14:sldId id="404"/>
            <p14:sldId id="401"/>
            <p14:sldId id="399"/>
            <p14:sldId id="405"/>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rt Karaçelebi" initials="MK" lastIdx="3" clrIdx="0">
    <p:extLst>
      <p:ext uri="{19B8F6BF-5375-455C-9EA6-DF929625EA0E}">
        <p15:presenceInfo xmlns:p15="http://schemas.microsoft.com/office/powerpoint/2012/main" userId="S-1-5-21-2082945442-480271342-340043625-486471" providerId="AD"/>
      </p:ext>
    </p:extLst>
  </p:cmAuthor>
  <p:cmAuthor id="2" name="Ali Rajaei" initials="AR" lastIdx="28" clrIdx="1">
    <p:extLst>
      <p:ext uri="{19B8F6BF-5375-455C-9EA6-DF929625EA0E}">
        <p15:presenceInfo xmlns:p15="http://schemas.microsoft.com/office/powerpoint/2012/main" userId="S-1-5-21-2082945442-480271342-340043625-485097" providerId="AD"/>
      </p:ext>
    </p:extLst>
  </p:cmAuthor>
  <p:cmAuthor id="3" name="Jochen Cremer" initials="JC" lastIdx="9" clrIdx="2">
    <p:extLst>
      <p:ext uri="{19B8F6BF-5375-455C-9EA6-DF929625EA0E}">
        <p15:presenceInfo xmlns:p15="http://schemas.microsoft.com/office/powerpoint/2012/main" userId="S-1-5-21-2082945442-480271342-340043625-4630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6D6"/>
    <a:srgbClr val="009999"/>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8" autoAdjust="0"/>
    <p:restoredTop sz="89926" autoAdjust="0"/>
  </p:normalViewPr>
  <p:slideViewPr>
    <p:cSldViewPr snapToGrid="0" snapToObjects="1">
      <p:cViewPr varScale="1">
        <p:scale>
          <a:sx n="131" d="100"/>
          <a:sy n="131" d="100"/>
        </p:scale>
        <p:origin x="1212" y="96"/>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Rajaei" userId="6e28f5a4-d047-4136-8b08-11ab712c24ee" providerId="ADAL" clId="{D818F9EE-C5C6-4174-B107-4DE5B7D69E20}"/>
    <pc:docChg chg="modSld">
      <pc:chgData name="Ali Rajaei" userId="6e28f5a4-d047-4136-8b08-11ab712c24ee" providerId="ADAL" clId="{D818F9EE-C5C6-4174-B107-4DE5B7D69E20}" dt="2025-09-08T15:06:39.340" v="0" actId="2165"/>
      <pc:docMkLst>
        <pc:docMk/>
      </pc:docMkLst>
      <pc:sldChg chg="modSp mod">
        <pc:chgData name="Ali Rajaei" userId="6e28f5a4-d047-4136-8b08-11ab712c24ee" providerId="ADAL" clId="{D818F9EE-C5C6-4174-B107-4DE5B7D69E20}" dt="2025-09-08T15:06:39.340" v="0" actId="2165"/>
        <pc:sldMkLst>
          <pc:docMk/>
          <pc:sldMk cId="2310049921" sldId="398"/>
        </pc:sldMkLst>
        <pc:graphicFrameChg chg="modGraphic">
          <ac:chgData name="Ali Rajaei" userId="6e28f5a4-d047-4136-8b08-11ab712c24ee" providerId="ADAL" clId="{D818F9EE-C5C6-4174-B107-4DE5B7D69E20}" dt="2025-09-08T15:06:39.340" v="0" actId="2165"/>
          <ac:graphicFrameMkLst>
            <pc:docMk/>
            <pc:sldMk cId="2310049921" sldId="398"/>
            <ac:graphicFrameMk id="4" creationId="{00000000-0000-0000-0000-000000000000}"/>
          </ac:graphicFrameMkLst>
        </pc:graphicFrameChg>
      </pc:sldChg>
    </pc:docChg>
  </pc:docChgLst>
  <pc:docChgLst>
    <pc:chgData name="Pedro Vergara Barrios" userId="eff39d24-3685-4fd2-93e3-19cf1e626560" providerId="ADAL" clId="{4B722C0B-E61C-45AD-9C7D-508264955729}"/>
    <pc:docChg chg="custSel modSld">
      <pc:chgData name="Pedro Vergara Barrios" userId="eff39d24-3685-4fd2-93e3-19cf1e626560" providerId="ADAL" clId="{4B722C0B-E61C-45AD-9C7D-508264955729}" dt="2024-08-30T09:01:46.196" v="195" actId="33524"/>
      <pc:docMkLst>
        <pc:docMk/>
      </pc:docMkLst>
      <pc:sldChg chg="modSp mod">
        <pc:chgData name="Pedro Vergara Barrios" userId="eff39d24-3685-4fd2-93e3-19cf1e626560" providerId="ADAL" clId="{4B722C0B-E61C-45AD-9C7D-508264955729}" dt="2024-08-30T09:01:46.196" v="195" actId="33524"/>
        <pc:sldMkLst>
          <pc:docMk/>
          <pc:sldMk cId="2760214472" sldId="4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AE3B3E-782A-9745-8E84-372F7B6771BF}" type="datetimeFigureOut">
              <a:rPr lang="en-US" smtClean="0"/>
              <a:t>9/6/2026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C171C0A-6FC9-E54E-92BE-11816E6C8A1A}" type="slidenum">
              <a:rPr lang="en-US" smtClean="0"/>
              <a:t>‹#›</a:t>
            </a:fld>
            <a:endParaRPr lang="en-US" dirty="0"/>
          </a:p>
        </p:txBody>
      </p:sp>
    </p:spTree>
    <p:extLst>
      <p:ext uri="{BB962C8B-B14F-4D97-AF65-F5344CB8AC3E}">
        <p14:creationId xmlns:p14="http://schemas.microsoft.com/office/powerpoint/2010/main" val="16406069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DC32C5-E05B-4ABE-A3D5-600B4D3AE2FB}" type="datetimeFigureOut">
              <a:rPr lang="en-GB" smtClean="0"/>
              <a:t>06/09/2026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DEBDF0-CA68-48C8-8DE6-525748C4EC06}" type="slidenum">
              <a:rPr lang="en-GB" smtClean="0"/>
              <a:t>‹#›</a:t>
            </a:fld>
            <a:endParaRPr lang="en-GB"/>
          </a:p>
        </p:txBody>
      </p:sp>
    </p:spTree>
    <p:extLst>
      <p:ext uri="{BB962C8B-B14F-4D97-AF65-F5344CB8AC3E}">
        <p14:creationId xmlns:p14="http://schemas.microsoft.com/office/powerpoint/2010/main" val="3729742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02192" y="617247"/>
            <a:ext cx="7265534" cy="2229538"/>
          </a:xfrm>
        </p:spPr>
        <p:txBody>
          <a:bodyPr>
            <a:noAutofit/>
          </a:bodyPr>
          <a:lstStyle>
            <a:lvl1pPr algn="l">
              <a:defRPr sz="7200">
                <a:solidFill>
                  <a:srgbClr val="00A6D6"/>
                </a:solidFill>
                <a:latin typeface="Arial"/>
                <a:cs typeface="Arial"/>
              </a:defRPr>
            </a:lvl1pPr>
          </a:lstStyle>
          <a:p>
            <a:r>
              <a:rPr lang="en-US" dirty="0"/>
              <a:t>Click to edit Master title style</a:t>
            </a:r>
          </a:p>
        </p:txBody>
      </p:sp>
      <p:sp>
        <p:nvSpPr>
          <p:cNvPr id="3" name="Subtitle 2"/>
          <p:cNvSpPr>
            <a:spLocks noGrp="1"/>
          </p:cNvSpPr>
          <p:nvPr>
            <p:ph type="subTitle" idx="1"/>
          </p:nvPr>
        </p:nvSpPr>
        <p:spPr>
          <a:xfrm>
            <a:off x="1802192" y="3203297"/>
            <a:ext cx="7067378" cy="1025802"/>
          </a:xfrm>
        </p:spPr>
        <p:txBody>
          <a:bodyPr>
            <a:normAutofit/>
          </a:bodyPr>
          <a:lstStyle>
            <a:lvl1pPr marL="0" indent="0" algn="l">
              <a:buNone/>
              <a:defRPr sz="28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2915834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800"/>
            </a:lvl1pPr>
            <a:lvl2pPr>
              <a:defRPr sz="1600"/>
            </a:lvl2pPr>
            <a:lvl3pPr>
              <a:defRPr sz="1600"/>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74336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34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Picture Placeholder 9"/>
          <p:cNvSpPr>
            <a:spLocks noGrp="1"/>
          </p:cNvSpPr>
          <p:nvPr>
            <p:ph type="pic" sz="quarter" idx="11"/>
          </p:nvPr>
        </p:nvSpPr>
        <p:spPr>
          <a:xfrm>
            <a:off x="0" y="0"/>
            <a:ext cx="9144000" cy="5143500"/>
          </a:xfrm>
        </p:spPr>
        <p:txBody>
          <a:bodyPr/>
          <a:lstStyle/>
          <a:p>
            <a:endParaRPr lang="en-US" dirty="0"/>
          </a:p>
        </p:txBody>
      </p:sp>
      <p:pic>
        <p:nvPicPr>
          <p:cNvPr id="12" name="Afbeelding 2" descr="TUDelft_LogoZWART.eps"/>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9146" y="4663753"/>
            <a:ext cx="1104294" cy="323006"/>
          </a:xfrm>
          <a:prstGeom prst="rect">
            <a:avLst/>
          </a:prstGeom>
        </p:spPr>
      </p:pic>
      <p:sp>
        <p:nvSpPr>
          <p:cNvPr id="13" name="Slide Number Placeholder 5"/>
          <p:cNvSpPr txBox="1">
            <a:spLocks/>
          </p:cNvSpPr>
          <p:nvPr userDrawn="1"/>
        </p:nvSpPr>
        <p:spPr>
          <a:xfrm>
            <a:off x="6651560" y="4815702"/>
            <a:ext cx="2316370" cy="273844"/>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rgbClr val="00A6D6"/>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57312C-2AB5-4E4E-8F57-D0081D5FE9E6}" type="slidenum">
              <a:rPr lang="en-US" smtClean="0"/>
              <a:pPr/>
              <a:t>‹#›</a:t>
            </a:fld>
            <a:endParaRPr lang="en-US" dirty="0"/>
          </a:p>
        </p:txBody>
      </p:sp>
      <p:sp>
        <p:nvSpPr>
          <p:cNvPr id="3" name="TextBox 2"/>
          <p:cNvSpPr txBox="1"/>
          <p:nvPr userDrawn="1"/>
        </p:nvSpPr>
        <p:spPr>
          <a:xfrm>
            <a:off x="-3990281" y="4186591"/>
            <a:ext cx="184666"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4012058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405717" cy="857250"/>
          </a:xfrm>
        </p:spPr>
        <p:txBody>
          <a:bodyPr>
            <a:norm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457200" y="1200150"/>
            <a:ext cx="8405717" cy="3615551"/>
          </a:xfrm>
        </p:spPr>
        <p:txBody>
          <a:bodyPr>
            <a:normAutofit/>
          </a:bodyPr>
          <a:lstStyle>
            <a:lvl1pPr>
              <a:defRPr sz="1800"/>
            </a:lvl1pPr>
            <a:lvl2pPr marL="742950" indent="-285750">
              <a:buFont typeface="Arial" panose="020B0604020202020204" pitchFamily="34" charset="0"/>
              <a:buChar char="•"/>
              <a:defRPr sz="16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462A2416-1570-3849-86F9-07F78746E1B2}" type="datetimeFigureOut">
              <a:rPr lang="en-US" smtClean="0"/>
              <a:t>9/6/2026</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A832CF66-B496-874C-8E08-71A5E0622B6E}" type="slidenum">
              <a:rPr lang="en-US" smtClean="0"/>
              <a:t>‹#›</a:t>
            </a:fld>
            <a:endParaRPr lang="en-US" dirty="0"/>
          </a:p>
        </p:txBody>
      </p:sp>
    </p:spTree>
    <p:extLst>
      <p:ext uri="{BB962C8B-B14F-4D97-AF65-F5344CB8AC3E}">
        <p14:creationId xmlns:p14="http://schemas.microsoft.com/office/powerpoint/2010/main" val="121253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1"/>
            <a:ext cx="9144000" cy="51434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1777050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02192" y="617247"/>
            <a:ext cx="7265534" cy="2229538"/>
          </a:xfrm>
        </p:spPr>
        <p:txBody>
          <a:bodyPr>
            <a:noAutofit/>
          </a:bodyPr>
          <a:lstStyle>
            <a:lvl1pPr algn="l">
              <a:defRPr sz="7200">
                <a:solidFill>
                  <a:srgbClr val="00A6D6"/>
                </a:solidFill>
                <a:latin typeface="Arial"/>
                <a:cs typeface="Arial"/>
              </a:defRPr>
            </a:lvl1pPr>
          </a:lstStyle>
          <a:p>
            <a:r>
              <a:rPr lang="en-US" dirty="0"/>
              <a:t>Click to edit Master title style</a:t>
            </a:r>
          </a:p>
        </p:txBody>
      </p:sp>
      <p:sp>
        <p:nvSpPr>
          <p:cNvPr id="3" name="Subtitle 2"/>
          <p:cNvSpPr>
            <a:spLocks noGrp="1"/>
          </p:cNvSpPr>
          <p:nvPr>
            <p:ph type="subTitle" idx="1"/>
          </p:nvPr>
        </p:nvSpPr>
        <p:spPr>
          <a:xfrm>
            <a:off x="1802192" y="3203297"/>
            <a:ext cx="7067378" cy="1025802"/>
          </a:xfrm>
        </p:spPr>
        <p:txBody>
          <a:bodyPr>
            <a:normAutofit/>
          </a:bodyPr>
          <a:lstStyle>
            <a:lvl1pPr marL="0" indent="0" algn="l">
              <a:buNone/>
              <a:defRPr sz="28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8567274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2.emf"/><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63106" y="205979"/>
            <a:ext cx="7106464"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763106" y="1200150"/>
            <a:ext cx="7106464" cy="34861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8" name="Picture 3" descr="TU_P5#white.eps"/>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100264" y="4581184"/>
            <a:ext cx="1368883" cy="632424"/>
          </a:xfrm>
          <a:prstGeom prst="rect">
            <a:avLst/>
          </a:prstGeom>
        </p:spPr>
      </p:pic>
      <p:sp>
        <p:nvSpPr>
          <p:cNvPr id="10" name="Slide Number Placeholder 5"/>
          <p:cNvSpPr txBox="1">
            <a:spLocks/>
          </p:cNvSpPr>
          <p:nvPr userDrawn="1"/>
        </p:nvSpPr>
        <p:spPr>
          <a:xfrm>
            <a:off x="6651560" y="4815702"/>
            <a:ext cx="2316370" cy="273844"/>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rgbClr val="00A6D6"/>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57312C-2AB5-4E4E-8F57-D0081D5FE9E6}" type="slidenum">
              <a:rPr lang="en-US" smtClean="0"/>
              <a:pPr/>
              <a:t>‹#›</a:t>
            </a:fld>
            <a:endParaRPr lang="en-US" dirty="0"/>
          </a:p>
        </p:txBody>
      </p:sp>
      <p:sp>
        <p:nvSpPr>
          <p:cNvPr id="9" name="Rectangle 28"/>
          <p:cNvSpPr>
            <a:spLocks noChangeArrowheads="1"/>
          </p:cNvSpPr>
          <p:nvPr userDrawn="1"/>
        </p:nvSpPr>
        <p:spPr bwMode="auto">
          <a:xfrm>
            <a:off x="0" y="0"/>
            <a:ext cx="1576384" cy="5149008"/>
          </a:xfrm>
          <a:prstGeom prst="rect">
            <a:avLst/>
          </a:prstGeom>
          <a:solidFill>
            <a:srgbClr val="00A6D6"/>
          </a:solidFill>
          <a:ln w="9525">
            <a:noFill/>
            <a:miter lim="800000"/>
            <a:headEnd/>
            <a:tailEnd/>
          </a:ln>
        </p:spPr>
        <p:txBody>
          <a:bodyPr wrap="none" lIns="91436" tIns="45719" rIns="91436" bIns="45719" anchor="ctr"/>
          <a:lstStyle/>
          <a:p>
            <a:pPr algn="r"/>
            <a:endParaRPr lang="nl-NL" sz="2100" dirty="0">
              <a:latin typeface="Tahoma" pitchFamily="34" charset="0"/>
            </a:endParaRPr>
          </a:p>
        </p:txBody>
      </p:sp>
      <p:pic>
        <p:nvPicPr>
          <p:cNvPr id="11" name="Picture 3" descr="TU_P5#white.eps"/>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100264" y="4389330"/>
            <a:ext cx="1368883" cy="843232"/>
          </a:xfrm>
          <a:prstGeom prst="rect">
            <a:avLst/>
          </a:prstGeom>
        </p:spPr>
      </p:pic>
    </p:spTree>
    <p:extLst>
      <p:ext uri="{BB962C8B-B14F-4D97-AF65-F5344CB8AC3E}">
        <p14:creationId xmlns:p14="http://schemas.microsoft.com/office/powerpoint/2010/main" val="3480247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457200" rtl="0" eaLnBrk="1" latinLnBrk="0" hangingPunct="1">
        <a:spcBef>
          <a:spcPct val="0"/>
        </a:spcBef>
        <a:buNone/>
        <a:defRPr sz="3200" kern="1200">
          <a:solidFill>
            <a:srgbClr val="00A6D6"/>
          </a:solidFill>
          <a:latin typeface="Arial"/>
          <a:ea typeface="+mj-ea"/>
          <a:cs typeface="Arial"/>
        </a:defRPr>
      </a:lvl1pPr>
    </p:titleStyle>
    <p:bodyStyle>
      <a:lvl1pPr marL="342900" indent="-342900" algn="l" defTabSz="457200" rtl="0" eaLnBrk="1" latinLnBrk="0" hangingPunct="1">
        <a:spcBef>
          <a:spcPct val="20000"/>
        </a:spcBef>
        <a:buClr>
          <a:srgbClr val="00A6D6"/>
        </a:buClr>
        <a:buFont typeface="Arial"/>
        <a:buChar char="•"/>
        <a:defRPr sz="2000" kern="1200">
          <a:solidFill>
            <a:schemeClr val="tx1"/>
          </a:solidFill>
          <a:latin typeface="Arial"/>
          <a:ea typeface="+mn-ea"/>
          <a:cs typeface="Arial"/>
        </a:defRPr>
      </a:lvl1pPr>
      <a:lvl2pPr marL="742950" indent="-285750" algn="l" defTabSz="457200" rtl="0" eaLnBrk="1" latinLnBrk="0" hangingPunct="1">
        <a:spcBef>
          <a:spcPct val="20000"/>
        </a:spcBef>
        <a:buClr>
          <a:srgbClr val="00A6D6"/>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A6D6"/>
        </a:buClr>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2404" y="205979"/>
            <a:ext cx="7090513"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772404" y="1200150"/>
            <a:ext cx="7090513" cy="361555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9" name="Slide Number Placeholder 5"/>
          <p:cNvSpPr txBox="1">
            <a:spLocks/>
          </p:cNvSpPr>
          <p:nvPr userDrawn="1"/>
        </p:nvSpPr>
        <p:spPr>
          <a:xfrm>
            <a:off x="6651560" y="4815702"/>
            <a:ext cx="2316370" cy="273844"/>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rgbClr val="00A6D6"/>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557312C-2AB5-4E4E-8F57-D0081D5FE9E6}" type="slidenum">
              <a:rPr lang="en-US" smtClean="0"/>
              <a:pPr/>
              <a:t>‹#›</a:t>
            </a:fld>
            <a:endParaRPr lang="en-US" dirty="0"/>
          </a:p>
        </p:txBody>
      </p:sp>
      <p:pic>
        <p:nvPicPr>
          <p:cNvPr id="6" name="Afbeelding 8" descr="TUDelft_LogoZWART.eps"/>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208624" y="4515071"/>
            <a:ext cx="1104294" cy="430675"/>
          </a:xfrm>
          <a:prstGeom prst="rect">
            <a:avLst/>
          </a:prstGeom>
        </p:spPr>
      </p:pic>
    </p:spTree>
    <p:extLst>
      <p:ext uri="{BB962C8B-B14F-4D97-AF65-F5344CB8AC3E}">
        <p14:creationId xmlns:p14="http://schemas.microsoft.com/office/powerpoint/2010/main" val="13034420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9" r:id="rId3"/>
    <p:sldLayoutId id="2147483670" r:id="rId4"/>
  </p:sldLayoutIdLst>
  <p:txStyles>
    <p:titleStyle>
      <a:lvl1pPr algn="l" defTabSz="457200" rtl="0" eaLnBrk="1" latinLnBrk="0" hangingPunct="1">
        <a:spcBef>
          <a:spcPct val="0"/>
        </a:spcBef>
        <a:buNone/>
        <a:defRPr sz="3200" kern="1200">
          <a:solidFill>
            <a:srgbClr val="00A6D6"/>
          </a:solidFill>
          <a:latin typeface="Arial"/>
          <a:ea typeface="+mj-ea"/>
          <a:cs typeface="Arial"/>
        </a:defRPr>
      </a:lvl1pPr>
    </p:titleStyle>
    <p:bodyStyle>
      <a:lvl1pPr marL="342900" indent="-342900" algn="l" defTabSz="457200" rtl="0" eaLnBrk="1" latinLnBrk="0" hangingPunct="1">
        <a:spcBef>
          <a:spcPct val="20000"/>
        </a:spcBef>
        <a:buClr>
          <a:srgbClr val="00A6D6"/>
        </a:buClr>
        <a:buFont typeface="Arial"/>
        <a:buChar char="•"/>
        <a:defRPr sz="2000" kern="1200">
          <a:solidFill>
            <a:schemeClr val="tx1"/>
          </a:solidFill>
          <a:latin typeface="Arial"/>
          <a:ea typeface="+mn-ea"/>
          <a:cs typeface="Arial"/>
        </a:defRPr>
      </a:lvl1pPr>
      <a:lvl2pPr marL="742950" indent="-285750" algn="l" defTabSz="457200" rtl="0" eaLnBrk="1" latinLnBrk="0" hangingPunct="1">
        <a:spcBef>
          <a:spcPct val="20000"/>
        </a:spcBef>
        <a:buClr>
          <a:srgbClr val="00A6D6"/>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A6D6"/>
        </a:buClr>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mailto:Z.Qin-2@tudelft.nl" TargetMode="External"/><Relationship Id="rId2" Type="http://schemas.openxmlformats.org/officeDocument/2006/relationships/hyperlink" Target="mailto:P.P.VergaraBarrios@tudelft.nl" TargetMode="External"/><Relationship Id="rId1" Type="http://schemas.openxmlformats.org/officeDocument/2006/relationships/slideLayout" Target="../slideLayouts/slideLayout5.xml"/><Relationship Id="rId5" Type="http://schemas.openxmlformats.org/officeDocument/2006/relationships/hyperlink" Target="mailto:F.Fioranelli@tudelft.nl" TargetMode="External"/><Relationship Id="rId4" Type="http://schemas.openxmlformats.org/officeDocument/2006/relationships/hyperlink" Target="mailto:M.R.Vogt@tudelft.n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mailto:R.K.Bishnoi@tudelft.nl" TargetMode="External"/><Relationship Id="rId2" Type="http://schemas.openxmlformats.org/officeDocument/2006/relationships/hyperlink" Target="mailto:J.H.G.Dauwels@tudelft.nl" TargetMode="External"/><Relationship Id="rId1" Type="http://schemas.openxmlformats.org/officeDocument/2006/relationships/slideLayout" Target="../slideLayouts/slideLayout5.xml"/><Relationship Id="rId4" Type="http://schemas.openxmlformats.org/officeDocument/2006/relationships/hyperlink" Target="mailto:G.Joseph@tudelft.n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0240" y="505504"/>
            <a:ext cx="6577959" cy="2194834"/>
          </a:xfrm>
        </p:spPr>
        <p:txBody>
          <a:bodyPr>
            <a:noAutofit/>
          </a:bodyPr>
          <a:lstStyle/>
          <a:p>
            <a:r>
              <a:rPr lang="en-GB" sz="3200" dirty="0"/>
              <a:t>EE4C12:</a:t>
            </a:r>
            <a:br>
              <a:rPr lang="en-GB" sz="3200" dirty="0"/>
            </a:br>
            <a:r>
              <a:rPr lang="en-GB" sz="3200" dirty="0"/>
              <a:t>Machine Learning for Electrical Engineering Applications </a:t>
            </a:r>
            <a:endParaRPr lang="en-US" sz="3200" dirty="0"/>
          </a:p>
        </p:txBody>
      </p:sp>
      <p:sp>
        <p:nvSpPr>
          <p:cNvPr id="3" name="Subtitle 2"/>
          <p:cNvSpPr>
            <a:spLocks noGrp="1"/>
          </p:cNvSpPr>
          <p:nvPr>
            <p:ph type="subTitle" idx="1"/>
          </p:nvPr>
        </p:nvSpPr>
        <p:spPr>
          <a:xfrm>
            <a:off x="1880240" y="2914650"/>
            <a:ext cx="5892160" cy="1847850"/>
          </a:xfrm>
        </p:spPr>
        <p:txBody>
          <a:bodyPr>
            <a:noAutofit/>
          </a:bodyPr>
          <a:lstStyle/>
          <a:p>
            <a:pPr algn="l"/>
            <a:r>
              <a:rPr lang="en-GB" sz="1800" dirty="0" err="1"/>
              <a:t>Dr.</a:t>
            </a:r>
            <a:r>
              <a:rPr lang="en-GB" sz="1800" dirty="0"/>
              <a:t> Jochen Cremer</a:t>
            </a:r>
          </a:p>
          <a:p>
            <a:r>
              <a:rPr lang="en-GB" sz="1800" dirty="0" err="1"/>
              <a:t>Dr.</a:t>
            </a:r>
            <a:r>
              <a:rPr lang="en-GB" sz="1800" dirty="0"/>
              <a:t> Pedro P. Vergara </a:t>
            </a:r>
          </a:p>
          <a:p>
            <a:r>
              <a:rPr lang="en-GB" sz="1800" dirty="0"/>
              <a:t>Dr. Justin Dauwels</a:t>
            </a:r>
          </a:p>
          <a:p>
            <a:r>
              <a:rPr lang="en-GB" sz="1800" dirty="0"/>
              <a:t>Paul </a:t>
            </a:r>
            <a:r>
              <a:rPr lang="en-GB" sz="1800" dirty="0" err="1"/>
              <a:t>Bannmuller</a:t>
            </a:r>
            <a:endParaRPr lang="en-GB" sz="1800" dirty="0"/>
          </a:p>
          <a:p>
            <a:r>
              <a:rPr lang="en-GB" sz="1800" dirty="0"/>
              <a:t>Dr. Dong Liu</a:t>
            </a:r>
            <a:endParaRPr lang="en-US" sz="1800" dirty="0"/>
          </a:p>
        </p:txBody>
      </p:sp>
    </p:spTree>
    <p:extLst>
      <p:ext uri="{BB962C8B-B14F-4D97-AF65-F5344CB8AC3E}">
        <p14:creationId xmlns:p14="http://schemas.microsoft.com/office/powerpoint/2010/main" val="3330537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GB" dirty="0"/>
              <a:t>Projects Description</a:t>
            </a:r>
          </a:p>
          <a:p>
            <a:pPr marL="514350" indent="-514350">
              <a:buFont typeface="+mj-lt"/>
              <a:buAutoNum type="arabicPeriod"/>
            </a:pPr>
            <a:r>
              <a:rPr lang="en-GB" dirty="0"/>
              <a:t>Grading Rubric</a:t>
            </a:r>
          </a:p>
          <a:p>
            <a:pPr marL="514350" indent="-514350">
              <a:buFont typeface="+mj-lt"/>
              <a:buAutoNum type="arabicPeriod"/>
            </a:pPr>
            <a:endParaRPr lang="en-US" dirty="0"/>
          </a:p>
        </p:txBody>
      </p:sp>
    </p:spTree>
    <p:extLst>
      <p:ext uri="{BB962C8B-B14F-4D97-AF65-F5344CB8AC3E}">
        <p14:creationId xmlns:p14="http://schemas.microsoft.com/office/powerpoint/2010/main" val="1512823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Objectives [LOs]</a:t>
            </a:r>
            <a:endParaRPr lang="en-US" dirty="0"/>
          </a:p>
        </p:txBody>
      </p:sp>
      <p:sp>
        <p:nvSpPr>
          <p:cNvPr id="4" name="Content Placeholder 3"/>
          <p:cNvSpPr>
            <a:spLocks noGrp="1"/>
          </p:cNvSpPr>
          <p:nvPr>
            <p:ph idx="1"/>
          </p:nvPr>
        </p:nvSpPr>
        <p:spPr/>
        <p:txBody>
          <a:bodyPr/>
          <a:lstStyle/>
          <a:p>
            <a:pPr marL="0" indent="0">
              <a:buNone/>
            </a:pPr>
            <a:r>
              <a:rPr lang="en-US" dirty="0">
                <a:ea typeface="+mn-lt"/>
                <a:cs typeface="+mn-lt"/>
              </a:rPr>
              <a:t>[LO3]  Use </a:t>
            </a:r>
            <a:r>
              <a:rPr lang="en-US" dirty="0" err="1">
                <a:ea typeface="+mn-lt"/>
                <a:cs typeface="+mn-lt"/>
              </a:rPr>
              <a:t>scikit</a:t>
            </a:r>
            <a:r>
              <a:rPr lang="en-US" dirty="0">
                <a:ea typeface="+mn-lt"/>
                <a:cs typeface="+mn-lt"/>
              </a:rPr>
              <a:t>-learn package in Python</a:t>
            </a:r>
            <a:r>
              <a:rPr lang="en-GB" dirty="0">
                <a:ea typeface="+mn-lt"/>
                <a:cs typeface="+mn-lt"/>
              </a:rPr>
              <a:t> </a:t>
            </a:r>
          </a:p>
          <a:p>
            <a:pPr marL="0" indent="0">
              <a:buNone/>
            </a:pPr>
            <a:endParaRPr lang="en-US" dirty="0"/>
          </a:p>
          <a:p>
            <a:pPr marL="0" indent="0">
              <a:buNone/>
            </a:pPr>
            <a:r>
              <a:rPr lang="en-US" dirty="0">
                <a:ea typeface="+mn-lt"/>
                <a:cs typeface="+mn-lt"/>
              </a:rPr>
              <a:t>[LO4] Apply training strategies for machine learning models to electrical engineering problems</a:t>
            </a:r>
            <a:r>
              <a:rPr lang="en-GB" dirty="0">
                <a:ea typeface="+mn-lt"/>
                <a:cs typeface="+mn-lt"/>
              </a:rPr>
              <a:t> </a:t>
            </a:r>
          </a:p>
          <a:p>
            <a:pPr marL="0" indent="0">
              <a:buNone/>
            </a:pPr>
            <a:endParaRPr lang="en-GB" dirty="0">
              <a:ea typeface="+mn-lt"/>
              <a:cs typeface="+mn-lt"/>
            </a:endParaRPr>
          </a:p>
          <a:p>
            <a:pPr marL="0" indent="0">
              <a:buNone/>
            </a:pPr>
            <a:r>
              <a:rPr lang="en-US" dirty="0">
                <a:ea typeface="+mn-lt"/>
                <a:cs typeface="+mn-lt"/>
              </a:rPr>
              <a:t>[LO5] Design a workflow on an electrical engineering example</a:t>
            </a:r>
            <a:endParaRPr lang="en-GB" dirty="0"/>
          </a:p>
          <a:p>
            <a:endParaRPr lang="en-US" dirty="0"/>
          </a:p>
        </p:txBody>
      </p:sp>
    </p:spTree>
    <p:extLst>
      <p:ext uri="{BB962C8B-B14F-4D97-AF65-F5344CB8AC3E}">
        <p14:creationId xmlns:p14="http://schemas.microsoft.com/office/powerpoint/2010/main" val="2470522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Assignment</a:t>
            </a:r>
            <a:endParaRPr lang="en-US" dirty="0"/>
          </a:p>
        </p:txBody>
      </p:sp>
      <p:sp>
        <p:nvSpPr>
          <p:cNvPr id="4" name="Content Placeholder 3"/>
          <p:cNvSpPr>
            <a:spLocks noGrp="1"/>
          </p:cNvSpPr>
          <p:nvPr>
            <p:ph idx="1"/>
          </p:nvPr>
        </p:nvSpPr>
        <p:spPr/>
        <p:txBody>
          <a:bodyPr/>
          <a:lstStyle/>
          <a:p>
            <a:r>
              <a:rPr lang="en-GB" dirty="0">
                <a:ea typeface="+mn-lt"/>
                <a:cs typeface="+mn-lt"/>
              </a:rPr>
              <a:t>In total 8 projects for different EE Tracks/Programs in EWI Faculty</a:t>
            </a:r>
          </a:p>
          <a:p>
            <a:endParaRPr lang="en-GB" dirty="0">
              <a:ea typeface="+mn-lt"/>
              <a:cs typeface="+mn-lt"/>
            </a:endParaRPr>
          </a:p>
          <a:p>
            <a:r>
              <a:rPr lang="en-GB" dirty="0">
                <a:ea typeface="+mn-lt"/>
                <a:cs typeface="+mn-lt"/>
              </a:rPr>
              <a:t>Choose a project from your own EE Track/Program.</a:t>
            </a:r>
          </a:p>
          <a:p>
            <a:endParaRPr lang="en-GB" dirty="0">
              <a:ea typeface="+mn-lt"/>
              <a:cs typeface="+mn-lt"/>
            </a:endParaRPr>
          </a:p>
          <a:p>
            <a:r>
              <a:rPr lang="en-GB" dirty="0">
                <a:ea typeface="+mn-lt"/>
                <a:cs typeface="+mn-lt"/>
              </a:rPr>
              <a:t>In Week 2, you will have access to the Project Description (PDF) and CSV files with the data. </a:t>
            </a:r>
          </a:p>
          <a:p>
            <a:endParaRPr lang="en-GB" dirty="0">
              <a:ea typeface="+mn-lt"/>
              <a:cs typeface="+mn-lt"/>
            </a:endParaRPr>
          </a:p>
          <a:p>
            <a:r>
              <a:rPr lang="en-GB" dirty="0">
                <a:ea typeface="+mn-lt"/>
                <a:cs typeface="+mn-lt"/>
              </a:rPr>
              <a:t>A responsible lecturer will provide guidance/feedback. This lecturer may not be an expert in Machine Learning, but they are for sure experts in the project content.</a:t>
            </a:r>
          </a:p>
          <a:p>
            <a:pPr marL="0" indent="0">
              <a:buNone/>
            </a:pPr>
            <a:endParaRPr lang="en-US" dirty="0"/>
          </a:p>
          <a:p>
            <a:pPr marL="0" indent="0">
              <a:buNone/>
            </a:pPr>
            <a:endParaRPr lang="en-GB" dirty="0">
              <a:ea typeface="+mn-lt"/>
              <a:cs typeface="+mn-lt"/>
            </a:endParaRPr>
          </a:p>
          <a:p>
            <a:endParaRPr lang="en-US" dirty="0"/>
          </a:p>
        </p:txBody>
      </p:sp>
    </p:spTree>
    <p:extLst>
      <p:ext uri="{BB962C8B-B14F-4D97-AF65-F5344CB8AC3E}">
        <p14:creationId xmlns:p14="http://schemas.microsoft.com/office/powerpoint/2010/main" val="276021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Descriptions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59266296"/>
              </p:ext>
            </p:extLst>
          </p:nvPr>
        </p:nvGraphicFramePr>
        <p:xfrm>
          <a:off x="457200" y="1063229"/>
          <a:ext cx="8405814" cy="2834640"/>
        </p:xfrm>
        <a:graphic>
          <a:graphicData uri="http://schemas.openxmlformats.org/drawingml/2006/table">
            <a:tbl>
              <a:tblPr firstRow="1" bandRow="1">
                <a:tableStyleId>{5C22544A-7EE6-4342-B048-85BDC9FD1C3A}</a:tableStyleId>
              </a:tblPr>
              <a:tblGrid>
                <a:gridCol w="876009">
                  <a:extLst>
                    <a:ext uri="{9D8B030D-6E8A-4147-A177-3AD203B41FA5}">
                      <a16:colId xmlns:a16="http://schemas.microsoft.com/office/drawing/2014/main" val="1398619375"/>
                    </a:ext>
                  </a:extLst>
                </a:gridCol>
                <a:gridCol w="2491915">
                  <a:extLst>
                    <a:ext uri="{9D8B030D-6E8A-4147-A177-3AD203B41FA5}">
                      <a16:colId xmlns:a16="http://schemas.microsoft.com/office/drawing/2014/main" val="1903213910"/>
                    </a:ext>
                  </a:extLst>
                </a:gridCol>
                <a:gridCol w="1584494">
                  <a:extLst>
                    <a:ext uri="{9D8B030D-6E8A-4147-A177-3AD203B41FA5}">
                      <a16:colId xmlns:a16="http://schemas.microsoft.com/office/drawing/2014/main" val="1948146609"/>
                    </a:ext>
                  </a:extLst>
                </a:gridCol>
                <a:gridCol w="1263408">
                  <a:extLst>
                    <a:ext uri="{9D8B030D-6E8A-4147-A177-3AD203B41FA5}">
                      <a16:colId xmlns:a16="http://schemas.microsoft.com/office/drawing/2014/main" val="1510866430"/>
                    </a:ext>
                  </a:extLst>
                </a:gridCol>
                <a:gridCol w="2189988">
                  <a:extLst>
                    <a:ext uri="{9D8B030D-6E8A-4147-A177-3AD203B41FA5}">
                      <a16:colId xmlns:a16="http://schemas.microsoft.com/office/drawing/2014/main" val="2890460000"/>
                    </a:ext>
                  </a:extLst>
                </a:gridCol>
              </a:tblGrid>
              <a:tr h="370840">
                <a:tc>
                  <a:txBody>
                    <a:bodyPr/>
                    <a:lstStyle/>
                    <a:p>
                      <a:pPr algn="ctr"/>
                      <a:r>
                        <a:rPr lang="en-GB" sz="1200" dirty="0"/>
                        <a:t>File</a:t>
                      </a:r>
                      <a:r>
                        <a:rPr lang="en-GB" sz="1200" baseline="0" dirty="0"/>
                        <a:t> Name</a:t>
                      </a:r>
                      <a:endParaRPr lang="en-US" sz="1200" dirty="0"/>
                    </a:p>
                  </a:txBody>
                  <a:tcPr/>
                </a:tc>
                <a:tc>
                  <a:txBody>
                    <a:bodyPr/>
                    <a:lstStyle/>
                    <a:p>
                      <a:pPr algn="ctr"/>
                      <a:r>
                        <a:rPr lang="en-GB" sz="1200" dirty="0"/>
                        <a:t>Project Name</a:t>
                      </a:r>
                      <a:endParaRPr lang="en-US" sz="1200" dirty="0"/>
                    </a:p>
                  </a:txBody>
                  <a:tcPr/>
                </a:tc>
                <a:tc>
                  <a:txBody>
                    <a:bodyPr/>
                    <a:lstStyle/>
                    <a:p>
                      <a:pPr algn="ctr"/>
                      <a:r>
                        <a:rPr lang="en-GB" sz="1200" dirty="0"/>
                        <a:t>MSc EE</a:t>
                      </a:r>
                      <a:r>
                        <a:rPr lang="en-GB" sz="1200" baseline="0" dirty="0"/>
                        <a:t> Track/Program</a:t>
                      </a:r>
                      <a:endParaRPr lang="en-US" sz="1200" dirty="0"/>
                    </a:p>
                  </a:txBody>
                  <a:tcPr/>
                </a:tc>
                <a:tc>
                  <a:txBody>
                    <a:bodyPr/>
                    <a:lstStyle/>
                    <a:p>
                      <a:pPr algn="ctr"/>
                      <a:r>
                        <a:rPr lang="en-GB" sz="1200" dirty="0"/>
                        <a:t>Responsible Lecturer</a:t>
                      </a:r>
                      <a:endParaRPr lang="en-US" sz="1200" dirty="0"/>
                    </a:p>
                  </a:txBody>
                  <a:tcPr/>
                </a:tc>
                <a:tc>
                  <a:txBody>
                    <a:bodyPr/>
                    <a:lstStyle/>
                    <a:p>
                      <a:pPr algn="ctr"/>
                      <a:r>
                        <a:rPr lang="en-GB" sz="1200" dirty="0"/>
                        <a:t>Email</a:t>
                      </a:r>
                      <a:endParaRPr lang="en-US" sz="1200" dirty="0"/>
                    </a:p>
                  </a:txBody>
                  <a:tcPr/>
                </a:tc>
                <a:extLst>
                  <a:ext uri="{0D108BD9-81ED-4DB2-BD59-A6C34878D82A}">
                    <a16:rowId xmlns:a16="http://schemas.microsoft.com/office/drawing/2014/main" val="867812798"/>
                  </a:ext>
                </a:extLst>
              </a:tr>
              <a:tr h="370840">
                <a:tc>
                  <a:txBody>
                    <a:bodyPr/>
                    <a:lstStyle/>
                    <a:p>
                      <a:pPr algn="ctr"/>
                      <a:r>
                        <a:rPr lang="en-GB" sz="1200" dirty="0"/>
                        <a:t>EPE_PS</a:t>
                      </a:r>
                      <a:endParaRPr lang="en-US" sz="1200" dirty="0"/>
                    </a:p>
                  </a:txBody>
                  <a:tcPr/>
                </a:tc>
                <a:tc>
                  <a:txBody>
                    <a:bodyPr/>
                    <a:lstStyle/>
                    <a:p>
                      <a:pPr algn="ctr"/>
                      <a:r>
                        <a:rPr lang="en-GB" sz="1200" dirty="0"/>
                        <a:t>Scenario Risk</a:t>
                      </a:r>
                      <a:r>
                        <a:rPr lang="en-GB" sz="1200" baseline="0" dirty="0"/>
                        <a:t> Estimation for Power Systems</a:t>
                      </a:r>
                      <a:endParaRPr lang="en-US" sz="1200" dirty="0"/>
                    </a:p>
                  </a:txBody>
                  <a:tcPr/>
                </a:tc>
                <a:tc>
                  <a:txBody>
                    <a:bodyPr/>
                    <a:lstStyle/>
                    <a:p>
                      <a:pPr algn="ctr"/>
                      <a:r>
                        <a:rPr lang="en-GB" sz="1200" dirty="0"/>
                        <a:t>Electrical Power Eng. </a:t>
                      </a:r>
                      <a:endParaRPr lang="en-US" sz="1200" dirty="0"/>
                    </a:p>
                  </a:txBody>
                  <a:tcPr/>
                </a:tc>
                <a:tc>
                  <a:txBody>
                    <a:bodyPr/>
                    <a:lstStyle/>
                    <a:p>
                      <a:pPr algn="ctr"/>
                      <a:r>
                        <a:rPr lang="en-GB" sz="1200" dirty="0"/>
                        <a:t>Pedro P. Vergara</a:t>
                      </a:r>
                      <a:endParaRPr lang="en-US" sz="1200" dirty="0"/>
                    </a:p>
                  </a:txBody>
                  <a:tcPr/>
                </a:tc>
                <a:tc>
                  <a:txBody>
                    <a:bodyPr/>
                    <a:lstStyle/>
                    <a:p>
                      <a:pPr algn="ctr"/>
                      <a:r>
                        <a:rPr lang="en-GB" sz="1200" dirty="0">
                          <a:hlinkClick r:id="rId2"/>
                        </a:rPr>
                        <a:t>P.P.VergaraBarrios@tudelft.nl</a:t>
                      </a:r>
                      <a:r>
                        <a:rPr lang="en-GB" sz="1200" dirty="0"/>
                        <a:t> </a:t>
                      </a:r>
                      <a:endParaRPr lang="en-US" sz="1200" dirty="0"/>
                    </a:p>
                  </a:txBody>
                  <a:tcPr/>
                </a:tc>
                <a:extLst>
                  <a:ext uri="{0D108BD9-81ED-4DB2-BD59-A6C34878D82A}">
                    <a16:rowId xmlns:a16="http://schemas.microsoft.com/office/drawing/2014/main" val="3683940219"/>
                  </a:ext>
                </a:extLst>
              </a:tr>
              <a:tr h="370840">
                <a:tc>
                  <a:txBody>
                    <a:bodyPr/>
                    <a:lstStyle/>
                    <a:p>
                      <a:pPr algn="ctr"/>
                      <a:r>
                        <a:rPr lang="en-GB" sz="1200" dirty="0"/>
                        <a:t>EPE_PQD</a:t>
                      </a:r>
                      <a:endParaRPr lang="en-US" sz="12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kern="1200" baseline="0" dirty="0">
                          <a:solidFill>
                            <a:schemeClr val="dk1"/>
                          </a:solidFill>
                          <a:latin typeface="+mn-lt"/>
                          <a:ea typeface="+mn-ea"/>
                          <a:cs typeface="+mn-cs"/>
                        </a:rPr>
                        <a:t>Scenario </a:t>
                      </a:r>
                      <a:r>
                        <a:rPr lang="en-US" sz="1200" kern="1200" baseline="0" dirty="0">
                          <a:solidFill>
                            <a:schemeClr val="dk1"/>
                          </a:solidFill>
                          <a:latin typeface="+mn-lt"/>
                          <a:ea typeface="+mn-ea"/>
                          <a:cs typeface="+mn-cs"/>
                        </a:rPr>
                        <a:t>Classification of Power Quality Issues</a:t>
                      </a:r>
                    </a:p>
                    <a:p>
                      <a:pPr algn="ctr"/>
                      <a:endParaRPr lang="en-US" sz="12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dirty="0"/>
                        <a:t>Electrical Power Eng. </a:t>
                      </a:r>
                      <a:endParaRPr lang="en-US" sz="1200" dirty="0"/>
                    </a:p>
                  </a:txBody>
                  <a:tcPr/>
                </a:tc>
                <a:tc>
                  <a:txBody>
                    <a:bodyPr/>
                    <a:lstStyle/>
                    <a:p>
                      <a:pPr algn="ctr"/>
                      <a:r>
                        <a:rPr lang="en-GB" sz="1200" dirty="0" err="1"/>
                        <a:t>Zian</a:t>
                      </a:r>
                      <a:r>
                        <a:rPr lang="en-GB" sz="1200" dirty="0"/>
                        <a:t> Qin</a:t>
                      </a:r>
                      <a:endParaRPr lang="en-US" sz="1200" dirty="0"/>
                    </a:p>
                  </a:txBody>
                  <a:tcPr/>
                </a:tc>
                <a:tc>
                  <a:txBody>
                    <a:bodyPr/>
                    <a:lstStyle/>
                    <a:p>
                      <a:pPr algn="ctr"/>
                      <a:r>
                        <a:rPr lang="en-US" sz="1200" u="sng" kern="1200" dirty="0">
                          <a:solidFill>
                            <a:schemeClr val="dk1"/>
                          </a:solidFill>
                          <a:effectLst/>
                          <a:latin typeface="+mn-lt"/>
                          <a:ea typeface="+mn-ea"/>
                          <a:cs typeface="+mn-cs"/>
                          <a:hlinkClick r:id="rId3"/>
                        </a:rPr>
                        <a:t>Z.Qin-2@tudelft.nl</a:t>
                      </a:r>
                      <a:r>
                        <a:rPr lang="en-US" sz="1200" kern="1200" dirty="0">
                          <a:solidFill>
                            <a:schemeClr val="dk1"/>
                          </a:solidFill>
                          <a:effectLst/>
                          <a:latin typeface="+mn-lt"/>
                          <a:ea typeface="+mn-ea"/>
                          <a:cs typeface="+mn-cs"/>
                        </a:rPr>
                        <a:t> </a:t>
                      </a:r>
                      <a:endParaRPr lang="en-US" sz="1000" dirty="0"/>
                    </a:p>
                  </a:txBody>
                  <a:tcPr/>
                </a:tc>
                <a:extLst>
                  <a:ext uri="{0D108BD9-81ED-4DB2-BD59-A6C34878D82A}">
                    <a16:rowId xmlns:a16="http://schemas.microsoft.com/office/drawing/2014/main" val="906432452"/>
                  </a:ext>
                </a:extLst>
              </a:tr>
              <a:tr h="370840">
                <a:tc>
                  <a:txBody>
                    <a:bodyPr/>
                    <a:lstStyle/>
                    <a:p>
                      <a:pPr algn="ctr"/>
                      <a:r>
                        <a:rPr lang="en-GB" sz="1200" kern="1200" baseline="0" dirty="0">
                          <a:solidFill>
                            <a:schemeClr val="dk1"/>
                          </a:solidFill>
                          <a:latin typeface="+mn-lt"/>
                          <a:ea typeface="+mn-ea"/>
                          <a:cs typeface="+mn-cs"/>
                        </a:rPr>
                        <a:t>SET_PV</a:t>
                      </a:r>
                      <a:endParaRPr lang="en-US" sz="1200" kern="1200" baseline="0" dirty="0">
                        <a:solidFill>
                          <a:schemeClr val="dk1"/>
                        </a:solidFill>
                        <a:latin typeface="+mn-lt"/>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kern="1200" baseline="0" dirty="0">
                          <a:solidFill>
                            <a:schemeClr val="dk1"/>
                          </a:solidFill>
                          <a:latin typeface="+mn-lt"/>
                          <a:ea typeface="+mn-ea"/>
                          <a:cs typeface="+mn-cs"/>
                        </a:rPr>
                        <a:t>Fault Detection for Residential PV Systems</a:t>
                      </a:r>
                      <a:endParaRPr lang="en-US" sz="1200" kern="1200" baseline="0" dirty="0">
                        <a:solidFill>
                          <a:schemeClr val="dk1"/>
                        </a:solidFill>
                        <a:latin typeface="+mn-lt"/>
                        <a:ea typeface="+mn-ea"/>
                        <a:cs typeface="+mn-cs"/>
                      </a:endParaRPr>
                    </a:p>
                    <a:p>
                      <a:pPr algn="ctr"/>
                      <a:endParaRPr lang="en-US" sz="1200" kern="1200" baseline="0" dirty="0">
                        <a:solidFill>
                          <a:schemeClr val="dk1"/>
                        </a:solidFill>
                        <a:latin typeface="+mn-lt"/>
                        <a:ea typeface="+mn-ea"/>
                        <a:cs typeface="+mn-cs"/>
                      </a:endParaRPr>
                    </a:p>
                  </a:txBody>
                  <a:tcPr/>
                </a:tc>
                <a:tc>
                  <a:txBody>
                    <a:bodyPr/>
                    <a:lstStyle/>
                    <a:p>
                      <a:pPr algn="ctr"/>
                      <a:r>
                        <a:rPr lang="en-GB" sz="1200" kern="1200" baseline="0" dirty="0">
                          <a:solidFill>
                            <a:schemeClr val="dk1"/>
                          </a:solidFill>
                          <a:latin typeface="+mn-lt"/>
                          <a:ea typeface="+mn-ea"/>
                          <a:cs typeface="+mn-cs"/>
                        </a:rPr>
                        <a:t>Sustainable Energy Technology</a:t>
                      </a:r>
                      <a:endParaRPr lang="en-US" sz="1200" kern="1200" baseline="0" dirty="0">
                        <a:solidFill>
                          <a:schemeClr val="dk1"/>
                        </a:solidFill>
                        <a:latin typeface="+mn-lt"/>
                        <a:ea typeface="+mn-ea"/>
                        <a:cs typeface="+mn-cs"/>
                      </a:endParaRPr>
                    </a:p>
                  </a:txBody>
                  <a:tcPr/>
                </a:tc>
                <a:tc>
                  <a:txBody>
                    <a:bodyPr/>
                    <a:lstStyle/>
                    <a:p>
                      <a:pPr algn="ctr"/>
                      <a:r>
                        <a:rPr lang="en-GB" sz="1200" kern="1200" baseline="0" dirty="0" err="1">
                          <a:solidFill>
                            <a:schemeClr val="dk1"/>
                          </a:solidFill>
                          <a:latin typeface="+mn-lt"/>
                          <a:ea typeface="+mn-ea"/>
                          <a:cs typeface="+mn-cs"/>
                        </a:rPr>
                        <a:t>Malte</a:t>
                      </a:r>
                      <a:r>
                        <a:rPr lang="en-GB" sz="1200" kern="1200" baseline="0" dirty="0">
                          <a:solidFill>
                            <a:schemeClr val="dk1"/>
                          </a:solidFill>
                          <a:latin typeface="+mn-lt"/>
                          <a:ea typeface="+mn-ea"/>
                          <a:cs typeface="+mn-cs"/>
                        </a:rPr>
                        <a:t> Vogt </a:t>
                      </a:r>
                      <a:endParaRPr lang="en-US" sz="1200" kern="1200" baseline="0" dirty="0">
                        <a:solidFill>
                          <a:schemeClr val="dk1"/>
                        </a:solidFill>
                        <a:latin typeface="+mn-lt"/>
                        <a:ea typeface="+mn-ea"/>
                        <a:cs typeface="+mn-cs"/>
                      </a:endParaRPr>
                    </a:p>
                  </a:txBody>
                  <a:tcPr/>
                </a:tc>
                <a:tc>
                  <a:txBody>
                    <a:bodyPr/>
                    <a:lstStyle/>
                    <a:p>
                      <a:pPr algn="ctr"/>
                      <a:r>
                        <a:rPr lang="en-GB" sz="1200" u="sng" kern="1200" dirty="0">
                          <a:solidFill>
                            <a:schemeClr val="dk1"/>
                          </a:solidFill>
                          <a:effectLst/>
                          <a:latin typeface="+mn-lt"/>
                          <a:ea typeface="+mn-ea"/>
                          <a:cs typeface="+mn-cs"/>
                          <a:hlinkClick r:id="rId4"/>
                        </a:rPr>
                        <a:t>M.R.Vogt@tudelft.nl</a:t>
                      </a:r>
                      <a:endParaRPr lang="en-US" sz="1000" dirty="0"/>
                    </a:p>
                  </a:txBody>
                  <a:tcPr/>
                </a:tc>
                <a:extLst>
                  <a:ext uri="{0D108BD9-81ED-4DB2-BD59-A6C34878D82A}">
                    <a16:rowId xmlns:a16="http://schemas.microsoft.com/office/drawing/2014/main" val="13284083"/>
                  </a:ext>
                </a:extLst>
              </a:tr>
              <a:tr h="370840">
                <a:tc>
                  <a:txBody>
                    <a:bodyPr/>
                    <a:lstStyle/>
                    <a:p>
                      <a:pPr algn="ctr"/>
                      <a:r>
                        <a:rPr lang="en-GB" sz="1200" kern="1200" baseline="0" dirty="0">
                          <a:solidFill>
                            <a:schemeClr val="dk1"/>
                          </a:solidFill>
                          <a:latin typeface="+mn-lt"/>
                          <a:ea typeface="+mn-ea"/>
                          <a:cs typeface="+mn-cs"/>
                        </a:rPr>
                        <a:t>WICOS</a:t>
                      </a:r>
                      <a:endParaRPr lang="en-US" sz="1200" kern="1200" baseline="0" dirty="0">
                        <a:solidFill>
                          <a:schemeClr val="dk1"/>
                        </a:solidFill>
                        <a:latin typeface="+mn-lt"/>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kern="1200" baseline="0" dirty="0">
                          <a:solidFill>
                            <a:schemeClr val="dk1"/>
                          </a:solidFill>
                          <a:latin typeface="+mn-lt"/>
                          <a:ea typeface="+mn-ea"/>
                          <a:cs typeface="+mn-cs"/>
                        </a:rPr>
                        <a:t>Radar &amp; AI for Human Computer Interaction via Hand Gestures</a:t>
                      </a:r>
                      <a:endParaRPr lang="en-US" sz="1200" kern="1200" baseline="0" dirty="0">
                        <a:solidFill>
                          <a:schemeClr val="dk1"/>
                        </a:solidFill>
                        <a:latin typeface="+mn-lt"/>
                        <a:ea typeface="+mn-ea"/>
                        <a:cs typeface="+mn-cs"/>
                      </a:endParaRPr>
                    </a:p>
                    <a:p>
                      <a:pPr algn="ctr"/>
                      <a:endParaRPr lang="en-US" sz="1200" kern="1200" baseline="0" dirty="0">
                        <a:solidFill>
                          <a:schemeClr val="dk1"/>
                        </a:solidFill>
                        <a:latin typeface="+mn-lt"/>
                        <a:ea typeface="+mn-ea"/>
                        <a:cs typeface="+mn-cs"/>
                      </a:endParaRPr>
                    </a:p>
                  </a:txBody>
                  <a:tcPr/>
                </a:tc>
                <a:tc>
                  <a:txBody>
                    <a:bodyPr/>
                    <a:lstStyle/>
                    <a:p>
                      <a:pPr algn="ctr"/>
                      <a:r>
                        <a:rPr lang="en-GB" sz="1200" kern="1200" baseline="0" dirty="0">
                          <a:solidFill>
                            <a:schemeClr val="dk1"/>
                          </a:solidFill>
                          <a:latin typeface="+mn-lt"/>
                          <a:ea typeface="+mn-ea"/>
                          <a:cs typeface="+mn-cs"/>
                        </a:rPr>
                        <a:t>Wireless Communication and Sensing</a:t>
                      </a:r>
                      <a:endParaRPr lang="en-US" sz="1200" kern="1200" baseline="0" dirty="0">
                        <a:solidFill>
                          <a:schemeClr val="dk1"/>
                        </a:solidFill>
                        <a:latin typeface="+mn-lt"/>
                        <a:ea typeface="+mn-ea"/>
                        <a:cs typeface="+mn-cs"/>
                      </a:endParaRPr>
                    </a:p>
                  </a:txBody>
                  <a:tcPr/>
                </a:tc>
                <a:tc>
                  <a:txBody>
                    <a:bodyPr/>
                    <a:lstStyle/>
                    <a:p>
                      <a:pPr algn="ctr"/>
                      <a:r>
                        <a:rPr lang="en-GB" sz="1200" kern="1200" baseline="0" dirty="0">
                          <a:solidFill>
                            <a:schemeClr val="dk1"/>
                          </a:solidFill>
                          <a:latin typeface="+mn-lt"/>
                          <a:ea typeface="+mn-ea"/>
                          <a:cs typeface="+mn-cs"/>
                        </a:rPr>
                        <a:t>Francesco </a:t>
                      </a:r>
                      <a:r>
                        <a:rPr lang="en-GB" sz="1200" kern="1200" baseline="0" dirty="0" err="1">
                          <a:solidFill>
                            <a:schemeClr val="dk1"/>
                          </a:solidFill>
                          <a:latin typeface="+mn-lt"/>
                          <a:ea typeface="+mn-ea"/>
                          <a:cs typeface="+mn-cs"/>
                        </a:rPr>
                        <a:t>Fioranelli</a:t>
                      </a:r>
                      <a:r>
                        <a:rPr lang="en-GB" sz="1200" kern="1200" baseline="0" dirty="0">
                          <a:solidFill>
                            <a:schemeClr val="dk1"/>
                          </a:solidFill>
                          <a:latin typeface="+mn-lt"/>
                          <a:ea typeface="+mn-ea"/>
                          <a:cs typeface="+mn-cs"/>
                        </a:rPr>
                        <a:t> </a:t>
                      </a:r>
                      <a:endParaRPr lang="en-US" sz="1200" kern="1200" baseline="0" dirty="0">
                        <a:solidFill>
                          <a:schemeClr val="dk1"/>
                        </a:solidFill>
                        <a:latin typeface="+mn-lt"/>
                        <a:ea typeface="+mn-ea"/>
                        <a:cs typeface="+mn-cs"/>
                      </a:endParaRPr>
                    </a:p>
                  </a:txBody>
                  <a:tcPr/>
                </a:tc>
                <a:tc>
                  <a:txBody>
                    <a:bodyPr/>
                    <a:lstStyle/>
                    <a:p>
                      <a:pPr algn="ctr"/>
                      <a:r>
                        <a:rPr lang="en-GB" sz="1200" u="sng" kern="1200" dirty="0">
                          <a:solidFill>
                            <a:schemeClr val="dk1"/>
                          </a:solidFill>
                          <a:effectLst/>
                          <a:latin typeface="+mn-lt"/>
                          <a:ea typeface="+mn-ea"/>
                          <a:cs typeface="+mn-cs"/>
                          <a:hlinkClick r:id="rId5"/>
                        </a:rPr>
                        <a:t>F.Fioranelli@tudelft.nl</a:t>
                      </a:r>
                      <a:endParaRPr lang="en-US" sz="700" dirty="0"/>
                    </a:p>
                  </a:txBody>
                  <a:tcPr/>
                </a:tc>
                <a:extLst>
                  <a:ext uri="{0D108BD9-81ED-4DB2-BD59-A6C34878D82A}">
                    <a16:rowId xmlns:a16="http://schemas.microsoft.com/office/drawing/2014/main" val="1969038220"/>
                  </a:ext>
                </a:extLst>
              </a:tr>
            </a:tbl>
          </a:graphicData>
        </a:graphic>
      </p:graphicFrame>
    </p:spTree>
    <p:extLst>
      <p:ext uri="{BB962C8B-B14F-4D97-AF65-F5344CB8AC3E}">
        <p14:creationId xmlns:p14="http://schemas.microsoft.com/office/powerpoint/2010/main" val="2507480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Project Descriptions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59227888"/>
              </p:ext>
            </p:extLst>
          </p:nvPr>
        </p:nvGraphicFramePr>
        <p:xfrm>
          <a:off x="457200" y="1063229"/>
          <a:ext cx="8405814" cy="2194560"/>
        </p:xfrm>
        <a:graphic>
          <a:graphicData uri="http://schemas.openxmlformats.org/drawingml/2006/table">
            <a:tbl>
              <a:tblPr firstRow="1" bandRow="1">
                <a:tableStyleId>{5C22544A-7EE6-4342-B048-85BDC9FD1C3A}</a:tableStyleId>
              </a:tblPr>
              <a:tblGrid>
                <a:gridCol w="876009">
                  <a:extLst>
                    <a:ext uri="{9D8B030D-6E8A-4147-A177-3AD203B41FA5}">
                      <a16:colId xmlns:a16="http://schemas.microsoft.com/office/drawing/2014/main" val="1398619375"/>
                    </a:ext>
                  </a:extLst>
                </a:gridCol>
                <a:gridCol w="2491915">
                  <a:extLst>
                    <a:ext uri="{9D8B030D-6E8A-4147-A177-3AD203B41FA5}">
                      <a16:colId xmlns:a16="http://schemas.microsoft.com/office/drawing/2014/main" val="1903213910"/>
                    </a:ext>
                  </a:extLst>
                </a:gridCol>
                <a:gridCol w="1584494">
                  <a:extLst>
                    <a:ext uri="{9D8B030D-6E8A-4147-A177-3AD203B41FA5}">
                      <a16:colId xmlns:a16="http://schemas.microsoft.com/office/drawing/2014/main" val="1948146609"/>
                    </a:ext>
                  </a:extLst>
                </a:gridCol>
                <a:gridCol w="1263408">
                  <a:extLst>
                    <a:ext uri="{9D8B030D-6E8A-4147-A177-3AD203B41FA5}">
                      <a16:colId xmlns:a16="http://schemas.microsoft.com/office/drawing/2014/main" val="1510866430"/>
                    </a:ext>
                  </a:extLst>
                </a:gridCol>
                <a:gridCol w="2189988">
                  <a:extLst>
                    <a:ext uri="{9D8B030D-6E8A-4147-A177-3AD203B41FA5}">
                      <a16:colId xmlns:a16="http://schemas.microsoft.com/office/drawing/2014/main" val="2890460000"/>
                    </a:ext>
                  </a:extLst>
                </a:gridCol>
              </a:tblGrid>
              <a:tr h="370840">
                <a:tc>
                  <a:txBody>
                    <a:bodyPr/>
                    <a:lstStyle/>
                    <a:p>
                      <a:pPr algn="ctr"/>
                      <a:r>
                        <a:rPr lang="en-GB" sz="1200" dirty="0"/>
                        <a:t>File</a:t>
                      </a:r>
                      <a:r>
                        <a:rPr lang="en-GB" sz="1200" baseline="0" dirty="0"/>
                        <a:t> Name</a:t>
                      </a:r>
                      <a:endParaRPr lang="en-US" sz="1200" dirty="0"/>
                    </a:p>
                  </a:txBody>
                  <a:tcPr/>
                </a:tc>
                <a:tc>
                  <a:txBody>
                    <a:bodyPr/>
                    <a:lstStyle/>
                    <a:p>
                      <a:pPr algn="ctr"/>
                      <a:r>
                        <a:rPr lang="en-GB" sz="1200" dirty="0"/>
                        <a:t>Project Name</a:t>
                      </a:r>
                      <a:endParaRPr lang="en-US" sz="1200" dirty="0"/>
                    </a:p>
                  </a:txBody>
                  <a:tcPr/>
                </a:tc>
                <a:tc>
                  <a:txBody>
                    <a:bodyPr/>
                    <a:lstStyle/>
                    <a:p>
                      <a:pPr algn="ctr"/>
                      <a:r>
                        <a:rPr lang="en-GB" sz="1200" dirty="0"/>
                        <a:t>MSc EE</a:t>
                      </a:r>
                      <a:r>
                        <a:rPr lang="en-GB" sz="1200" baseline="0" dirty="0"/>
                        <a:t> Track/Program</a:t>
                      </a:r>
                      <a:endParaRPr lang="en-US" sz="1200" dirty="0"/>
                    </a:p>
                  </a:txBody>
                  <a:tcPr/>
                </a:tc>
                <a:tc>
                  <a:txBody>
                    <a:bodyPr/>
                    <a:lstStyle/>
                    <a:p>
                      <a:pPr algn="ctr"/>
                      <a:r>
                        <a:rPr lang="en-GB" sz="1200" dirty="0"/>
                        <a:t>Responsible Lecturer</a:t>
                      </a:r>
                      <a:endParaRPr lang="en-US" sz="1200" dirty="0"/>
                    </a:p>
                  </a:txBody>
                  <a:tcPr/>
                </a:tc>
                <a:tc>
                  <a:txBody>
                    <a:bodyPr/>
                    <a:lstStyle/>
                    <a:p>
                      <a:pPr algn="ctr"/>
                      <a:r>
                        <a:rPr lang="en-GB" sz="1200" dirty="0"/>
                        <a:t>Email</a:t>
                      </a:r>
                      <a:endParaRPr lang="en-US" sz="1200" dirty="0"/>
                    </a:p>
                  </a:txBody>
                  <a:tcPr/>
                </a:tc>
                <a:extLst>
                  <a:ext uri="{0D108BD9-81ED-4DB2-BD59-A6C34878D82A}">
                    <a16:rowId xmlns:a16="http://schemas.microsoft.com/office/drawing/2014/main" val="867812798"/>
                  </a:ext>
                </a:extLst>
              </a:tr>
              <a:tr h="370840">
                <a:tc>
                  <a:txBody>
                    <a:bodyPr/>
                    <a:lstStyle/>
                    <a:p>
                      <a:pPr algn="ctr"/>
                      <a:r>
                        <a:rPr lang="en-GB" sz="1200" kern="1200" dirty="0">
                          <a:solidFill>
                            <a:schemeClr val="dk1"/>
                          </a:solidFill>
                          <a:latin typeface="+mn-lt"/>
                          <a:ea typeface="+mn-ea"/>
                          <a:cs typeface="+mn-cs"/>
                        </a:rPr>
                        <a:t>S&amp;S_EMG</a:t>
                      </a:r>
                      <a:endParaRPr lang="en-US" sz="1200" kern="1200" dirty="0">
                        <a:solidFill>
                          <a:schemeClr val="dk1"/>
                        </a:solidFill>
                        <a:latin typeface="+mn-lt"/>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latin typeface="+mn-lt"/>
                          <a:ea typeface="+mn-ea"/>
                          <a:cs typeface="+mn-cs"/>
                        </a:rPr>
                        <a:t>Hand Gesture Classification Based on EMG signals</a:t>
                      </a:r>
                      <a:endParaRPr lang="en-US" sz="1200" kern="1200" dirty="0">
                        <a:solidFill>
                          <a:schemeClr val="dk1"/>
                        </a:solidFill>
                        <a:latin typeface="+mn-lt"/>
                        <a:ea typeface="+mn-ea"/>
                        <a:cs typeface="+mn-cs"/>
                      </a:endParaRPr>
                    </a:p>
                    <a:p>
                      <a:pPr algn="ctr"/>
                      <a:endParaRPr lang="en-US" sz="1200" kern="1200" dirty="0">
                        <a:solidFill>
                          <a:schemeClr val="dk1"/>
                        </a:solidFill>
                        <a:latin typeface="+mn-lt"/>
                        <a:ea typeface="+mn-ea"/>
                        <a:cs typeface="+mn-cs"/>
                      </a:endParaRPr>
                    </a:p>
                  </a:txBody>
                  <a:tcPr/>
                </a:tc>
                <a:tc>
                  <a:txBody>
                    <a:bodyPr/>
                    <a:lstStyle/>
                    <a:p>
                      <a:pPr algn="ctr"/>
                      <a:r>
                        <a:rPr lang="en-GB" sz="1200" kern="1200" dirty="0">
                          <a:solidFill>
                            <a:schemeClr val="dk1"/>
                          </a:solidFill>
                          <a:latin typeface="+mn-lt"/>
                          <a:ea typeface="+mn-ea"/>
                          <a:cs typeface="+mn-cs"/>
                        </a:rPr>
                        <a:t>Signals and Systems</a:t>
                      </a:r>
                      <a:endParaRPr lang="en-US" sz="1200" kern="1200" dirty="0">
                        <a:solidFill>
                          <a:schemeClr val="dk1"/>
                        </a:solidFill>
                        <a:latin typeface="+mn-lt"/>
                        <a:ea typeface="+mn-ea"/>
                        <a:cs typeface="+mn-cs"/>
                      </a:endParaRPr>
                    </a:p>
                  </a:txBody>
                  <a:tcPr/>
                </a:tc>
                <a:tc>
                  <a:txBody>
                    <a:bodyPr/>
                    <a:lstStyle/>
                    <a:p>
                      <a:pPr algn="ctr"/>
                      <a:r>
                        <a:rPr lang="en-GB" sz="1200" kern="1200" dirty="0">
                          <a:solidFill>
                            <a:schemeClr val="dk1"/>
                          </a:solidFill>
                          <a:latin typeface="+mn-lt"/>
                          <a:ea typeface="+mn-ea"/>
                          <a:cs typeface="+mn-cs"/>
                        </a:rPr>
                        <a:t>Justin </a:t>
                      </a:r>
                      <a:r>
                        <a:rPr lang="en-GB" sz="1200" kern="1200" dirty="0" err="1">
                          <a:solidFill>
                            <a:schemeClr val="dk1"/>
                          </a:solidFill>
                          <a:latin typeface="+mn-lt"/>
                          <a:ea typeface="+mn-ea"/>
                          <a:cs typeface="+mn-cs"/>
                        </a:rPr>
                        <a:t>Dauwels</a:t>
                      </a:r>
                      <a:endParaRPr lang="en-US" sz="1200" kern="1200" dirty="0">
                        <a:solidFill>
                          <a:schemeClr val="dk1"/>
                        </a:solidFill>
                        <a:latin typeface="+mn-lt"/>
                        <a:ea typeface="+mn-ea"/>
                        <a:cs typeface="+mn-cs"/>
                      </a:endParaRPr>
                    </a:p>
                  </a:txBody>
                  <a:tcPr/>
                </a:tc>
                <a:tc>
                  <a:txBody>
                    <a:bodyPr/>
                    <a:lstStyle/>
                    <a:p>
                      <a:pPr algn="ctr"/>
                      <a:r>
                        <a:rPr lang="en-US" sz="1200" dirty="0">
                          <a:latin typeface="+mn-lt"/>
                          <a:hlinkClick r:id="rId2"/>
                        </a:rPr>
                        <a:t>J.H.G.Dauwels@tudelft.nl</a:t>
                      </a:r>
                      <a:r>
                        <a:rPr lang="en-US" sz="1200" dirty="0">
                          <a:latin typeface="+mn-lt"/>
                        </a:rPr>
                        <a:t> </a:t>
                      </a:r>
                    </a:p>
                  </a:txBody>
                  <a:tcPr/>
                </a:tc>
                <a:extLst>
                  <a:ext uri="{0D108BD9-81ED-4DB2-BD59-A6C34878D82A}">
                    <a16:rowId xmlns:a16="http://schemas.microsoft.com/office/drawing/2014/main" val="3683940219"/>
                  </a:ext>
                </a:extLst>
              </a:tr>
              <a:tr h="370840">
                <a:tc>
                  <a:txBody>
                    <a:bodyPr/>
                    <a:lstStyle/>
                    <a:p>
                      <a:pPr algn="ctr"/>
                      <a:r>
                        <a:rPr lang="en-GB" sz="1200" kern="1200" dirty="0">
                          <a:solidFill>
                            <a:schemeClr val="dk1"/>
                          </a:solidFill>
                          <a:latin typeface="+mn-lt"/>
                          <a:ea typeface="+mn-ea"/>
                          <a:cs typeface="+mn-cs"/>
                        </a:rPr>
                        <a:t>CE_ARR</a:t>
                      </a:r>
                      <a:endParaRPr lang="en-US" sz="1200" kern="1200" dirty="0">
                        <a:solidFill>
                          <a:schemeClr val="dk1"/>
                        </a:solidFill>
                        <a:latin typeface="+mn-lt"/>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latin typeface="+mn-lt"/>
                          <a:ea typeface="+mn-ea"/>
                          <a:cs typeface="+mn-cs"/>
                        </a:rPr>
                        <a:t>ECG Classification for Arrhythmia Detection</a:t>
                      </a:r>
                      <a:endParaRPr lang="en-US" sz="1200" kern="1200" dirty="0">
                        <a:solidFill>
                          <a:schemeClr val="dk1"/>
                        </a:solidFill>
                        <a:latin typeface="+mn-lt"/>
                        <a:ea typeface="+mn-ea"/>
                        <a:cs typeface="+mn-cs"/>
                      </a:endParaRPr>
                    </a:p>
                    <a:p>
                      <a:pPr algn="ctr"/>
                      <a:endParaRPr lang="en-US" sz="1200" kern="1200" dirty="0">
                        <a:solidFill>
                          <a:schemeClr val="dk1"/>
                        </a:solidFill>
                        <a:latin typeface="+mn-lt"/>
                        <a:ea typeface="+mn-ea"/>
                        <a:cs typeface="+mn-cs"/>
                      </a:endParaRPr>
                    </a:p>
                  </a:txBody>
                  <a:tcPr/>
                </a:tc>
                <a:tc>
                  <a:txBody>
                    <a:bodyPr/>
                    <a:lstStyle/>
                    <a:p>
                      <a:pPr algn="ctr"/>
                      <a:r>
                        <a:rPr lang="en-GB" sz="1200" kern="1200" dirty="0">
                          <a:solidFill>
                            <a:schemeClr val="dk1"/>
                          </a:solidFill>
                          <a:latin typeface="+mn-lt"/>
                          <a:ea typeface="+mn-ea"/>
                          <a:cs typeface="+mn-cs"/>
                        </a:rPr>
                        <a:t>Computer Engineering</a:t>
                      </a:r>
                      <a:endParaRPr lang="en-US" sz="1200" kern="1200" dirty="0">
                        <a:solidFill>
                          <a:schemeClr val="dk1"/>
                        </a:solidFill>
                        <a:latin typeface="+mn-lt"/>
                        <a:ea typeface="+mn-ea"/>
                        <a:cs typeface="+mn-cs"/>
                      </a:endParaRPr>
                    </a:p>
                  </a:txBody>
                  <a:tcPr/>
                </a:tc>
                <a:tc>
                  <a:txBody>
                    <a:bodyPr/>
                    <a:lstStyle/>
                    <a:p>
                      <a:pPr algn="ctr"/>
                      <a:r>
                        <a:rPr lang="en-GB" sz="1200" kern="1200" dirty="0" err="1">
                          <a:solidFill>
                            <a:schemeClr val="dk1"/>
                          </a:solidFill>
                          <a:latin typeface="+mn-lt"/>
                          <a:ea typeface="+mn-ea"/>
                          <a:cs typeface="+mn-cs"/>
                        </a:rPr>
                        <a:t>Rajendra</a:t>
                      </a:r>
                      <a:r>
                        <a:rPr lang="en-GB" sz="1200" kern="1200" dirty="0">
                          <a:solidFill>
                            <a:schemeClr val="dk1"/>
                          </a:solidFill>
                          <a:latin typeface="+mn-lt"/>
                          <a:ea typeface="+mn-ea"/>
                          <a:cs typeface="+mn-cs"/>
                        </a:rPr>
                        <a:t> </a:t>
                      </a:r>
                      <a:r>
                        <a:rPr lang="en-GB" sz="1200" kern="1200" dirty="0" err="1">
                          <a:solidFill>
                            <a:schemeClr val="dk1"/>
                          </a:solidFill>
                          <a:latin typeface="+mn-lt"/>
                          <a:ea typeface="+mn-ea"/>
                          <a:cs typeface="+mn-cs"/>
                        </a:rPr>
                        <a:t>Bishnoi</a:t>
                      </a:r>
                      <a:r>
                        <a:rPr lang="en-GB" sz="1200" kern="1200" dirty="0">
                          <a:solidFill>
                            <a:schemeClr val="dk1"/>
                          </a:solidFill>
                          <a:latin typeface="+mn-lt"/>
                          <a:ea typeface="+mn-ea"/>
                          <a:cs typeface="+mn-cs"/>
                        </a:rPr>
                        <a:t> </a:t>
                      </a:r>
                      <a:endParaRPr lang="en-US" sz="1200" kern="1200" dirty="0">
                        <a:solidFill>
                          <a:schemeClr val="dk1"/>
                        </a:solidFill>
                        <a:latin typeface="+mn-lt"/>
                        <a:ea typeface="+mn-ea"/>
                        <a:cs typeface="+mn-cs"/>
                      </a:endParaRPr>
                    </a:p>
                  </a:txBody>
                  <a:tcPr/>
                </a:tc>
                <a:tc>
                  <a:txBody>
                    <a:bodyPr/>
                    <a:lstStyle/>
                    <a:p>
                      <a:pPr algn="ctr"/>
                      <a:r>
                        <a:rPr lang="en-GB" sz="1200" u="sng" kern="1200" dirty="0">
                          <a:solidFill>
                            <a:schemeClr val="dk1"/>
                          </a:solidFill>
                          <a:effectLst/>
                          <a:latin typeface="+mn-lt"/>
                          <a:ea typeface="+mn-ea"/>
                          <a:cs typeface="+mn-cs"/>
                          <a:hlinkClick r:id="rId3"/>
                        </a:rPr>
                        <a:t>R.K.Bishnoi@tudelft.nl</a:t>
                      </a:r>
                      <a:endParaRPr lang="en-US" sz="1200" dirty="0">
                        <a:latin typeface="+mn-lt"/>
                      </a:endParaRPr>
                    </a:p>
                  </a:txBody>
                  <a:tcPr/>
                </a:tc>
                <a:extLst>
                  <a:ext uri="{0D108BD9-81ED-4DB2-BD59-A6C34878D82A}">
                    <a16:rowId xmlns:a16="http://schemas.microsoft.com/office/drawing/2014/main" val="13284083"/>
                  </a:ext>
                </a:extLst>
              </a:tr>
              <a:tr h="370840">
                <a:tc>
                  <a:txBody>
                    <a:bodyPr/>
                    <a:lstStyle/>
                    <a:p>
                      <a:pPr algn="ctr"/>
                      <a:r>
                        <a:rPr lang="en-GB" sz="1200" kern="1200" dirty="0">
                          <a:solidFill>
                            <a:schemeClr val="dk1"/>
                          </a:solidFill>
                          <a:latin typeface="+mn-lt"/>
                          <a:ea typeface="+mn-ea"/>
                          <a:cs typeface="+mn-cs"/>
                        </a:rPr>
                        <a:t>CE_IMG</a:t>
                      </a:r>
                      <a:endParaRPr lang="en-US" sz="1200" kern="1200" dirty="0">
                        <a:solidFill>
                          <a:schemeClr val="dk1"/>
                        </a:solidFill>
                        <a:latin typeface="+mn-lt"/>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latin typeface="+mn-lt"/>
                          <a:ea typeface="+mn-ea"/>
                          <a:cs typeface="+mn-cs"/>
                        </a:rPr>
                        <a:t>Image Classification Exploiting Sparsity</a:t>
                      </a:r>
                      <a:endParaRPr lang="en-US" sz="1200" kern="1200" dirty="0">
                        <a:solidFill>
                          <a:schemeClr val="dk1"/>
                        </a:solidFill>
                        <a:latin typeface="+mn-lt"/>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dk1"/>
                          </a:solidFill>
                          <a:latin typeface="+mn-lt"/>
                          <a:ea typeface="+mn-ea"/>
                          <a:cs typeface="+mn-cs"/>
                        </a:rPr>
                        <a:t>Computer Engineering</a:t>
                      </a:r>
                      <a:endParaRPr lang="en-US" sz="1200" kern="1200" dirty="0">
                        <a:solidFill>
                          <a:schemeClr val="dk1"/>
                        </a:solidFill>
                        <a:latin typeface="+mn-lt"/>
                        <a:ea typeface="+mn-ea"/>
                        <a:cs typeface="+mn-cs"/>
                      </a:endParaRPr>
                    </a:p>
                    <a:p>
                      <a:pPr algn="ctr"/>
                      <a:endParaRPr lang="en-US" sz="1200" kern="1200" dirty="0">
                        <a:solidFill>
                          <a:schemeClr val="dk1"/>
                        </a:solidFill>
                        <a:latin typeface="+mn-lt"/>
                        <a:ea typeface="+mn-ea"/>
                        <a:cs typeface="+mn-cs"/>
                      </a:endParaRPr>
                    </a:p>
                  </a:txBody>
                  <a:tcPr/>
                </a:tc>
                <a:tc>
                  <a:txBody>
                    <a:bodyPr/>
                    <a:lstStyle/>
                    <a:p>
                      <a:pPr algn="ctr"/>
                      <a:r>
                        <a:rPr lang="en-GB" sz="1200" kern="1200" dirty="0" err="1">
                          <a:solidFill>
                            <a:schemeClr val="dk1"/>
                          </a:solidFill>
                          <a:latin typeface="+mn-lt"/>
                          <a:ea typeface="+mn-ea"/>
                          <a:cs typeface="+mn-cs"/>
                        </a:rPr>
                        <a:t>Geethu</a:t>
                      </a:r>
                      <a:r>
                        <a:rPr lang="en-GB" sz="1200" kern="1200" dirty="0">
                          <a:solidFill>
                            <a:schemeClr val="dk1"/>
                          </a:solidFill>
                          <a:latin typeface="+mn-lt"/>
                          <a:ea typeface="+mn-ea"/>
                          <a:cs typeface="+mn-cs"/>
                        </a:rPr>
                        <a:t> Joseph </a:t>
                      </a:r>
                      <a:endParaRPr lang="en-US" sz="1200" kern="1200" dirty="0">
                        <a:solidFill>
                          <a:schemeClr val="dk1"/>
                        </a:solidFill>
                        <a:latin typeface="+mn-lt"/>
                        <a:ea typeface="+mn-ea"/>
                        <a:cs typeface="+mn-cs"/>
                      </a:endParaRPr>
                    </a:p>
                  </a:txBody>
                  <a:tcPr/>
                </a:tc>
                <a:tc>
                  <a:txBody>
                    <a:bodyPr/>
                    <a:lstStyle/>
                    <a:p>
                      <a:pPr algn="ctr"/>
                      <a:r>
                        <a:rPr lang="en-US" sz="1200" dirty="0">
                          <a:latin typeface="+mn-lt"/>
                          <a:hlinkClick r:id="rId4"/>
                        </a:rPr>
                        <a:t>G.Joseph@tudelft.nl</a:t>
                      </a:r>
                      <a:r>
                        <a:rPr lang="en-US" sz="1200" dirty="0">
                          <a:latin typeface="+mn-lt"/>
                        </a:rPr>
                        <a:t> </a:t>
                      </a:r>
                    </a:p>
                  </a:txBody>
                  <a:tcPr/>
                </a:tc>
                <a:extLst>
                  <a:ext uri="{0D108BD9-81ED-4DB2-BD59-A6C34878D82A}">
                    <a16:rowId xmlns:a16="http://schemas.microsoft.com/office/drawing/2014/main" val="1969038220"/>
                  </a:ext>
                </a:extLst>
              </a:tr>
            </a:tbl>
          </a:graphicData>
        </a:graphic>
      </p:graphicFrame>
    </p:spTree>
    <p:extLst>
      <p:ext uri="{BB962C8B-B14F-4D97-AF65-F5344CB8AC3E}">
        <p14:creationId xmlns:p14="http://schemas.microsoft.com/office/powerpoint/2010/main" val="2310049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Deliverables</a:t>
            </a:r>
            <a:endParaRPr lang="en-US" dirty="0"/>
          </a:p>
        </p:txBody>
      </p:sp>
      <p:sp>
        <p:nvSpPr>
          <p:cNvPr id="4" name="Content Placeholder 3"/>
          <p:cNvSpPr>
            <a:spLocks noGrp="1"/>
          </p:cNvSpPr>
          <p:nvPr>
            <p:ph idx="1"/>
          </p:nvPr>
        </p:nvSpPr>
        <p:spPr>
          <a:xfrm>
            <a:off x="457199" y="1048832"/>
            <a:ext cx="8405717" cy="3615551"/>
          </a:xfrm>
        </p:spPr>
        <p:txBody>
          <a:bodyPr>
            <a:normAutofit fontScale="92500" lnSpcReduction="20000"/>
          </a:bodyPr>
          <a:lstStyle/>
          <a:p>
            <a:r>
              <a:rPr lang="en-US" dirty="0">
                <a:ea typeface="+mn-lt"/>
                <a:cs typeface="+mn-lt"/>
              </a:rPr>
              <a:t>Final Project Report (see instructions below)</a:t>
            </a:r>
          </a:p>
          <a:p>
            <a:r>
              <a:rPr lang="en-US" dirty="0">
                <a:ea typeface="+mn-lt"/>
                <a:cs typeface="+mn-lt"/>
              </a:rPr>
              <a:t>Project Assignment Python code</a:t>
            </a:r>
          </a:p>
          <a:p>
            <a:endParaRPr lang="en-US" dirty="0">
              <a:ea typeface="+mn-lt"/>
              <a:cs typeface="+mn-lt"/>
            </a:endParaRPr>
          </a:p>
          <a:p>
            <a:pPr marL="0" indent="0">
              <a:buNone/>
            </a:pPr>
            <a:r>
              <a:rPr lang="en-GB" i="1"/>
              <a:t>Report Structure</a:t>
            </a:r>
            <a:endParaRPr lang="en-US"/>
          </a:p>
          <a:p>
            <a:pPr lvl="0"/>
            <a:r>
              <a:rPr lang="en-GB"/>
              <a:t>Members, emails, student numbers.</a:t>
            </a:r>
            <a:endParaRPr lang="en-US"/>
          </a:p>
          <a:p>
            <a:pPr lvl="0"/>
            <a:r>
              <a:rPr lang="en-GB"/>
              <a:t>Summary (less than 200 words)</a:t>
            </a:r>
            <a:endParaRPr lang="en-US"/>
          </a:p>
          <a:p>
            <a:pPr lvl="0"/>
            <a:r>
              <a:rPr lang="en-GB"/>
              <a:t>Task 1 </a:t>
            </a:r>
            <a:endParaRPr lang="en-US"/>
          </a:p>
          <a:p>
            <a:pPr lvl="0"/>
            <a:r>
              <a:rPr lang="en-GB"/>
              <a:t>Task 2 </a:t>
            </a:r>
            <a:endParaRPr lang="en-US"/>
          </a:p>
          <a:p>
            <a:pPr lvl="0"/>
            <a:r>
              <a:rPr lang="en-GB"/>
              <a:t>Conclusions (less than 200 words)</a:t>
            </a:r>
          </a:p>
          <a:p>
            <a:pPr lvl="0"/>
            <a:endParaRPr lang="en-US"/>
          </a:p>
          <a:p>
            <a:pPr marL="0" indent="0">
              <a:buNone/>
            </a:pPr>
            <a:r>
              <a:rPr lang="en-GB"/>
              <a:t>For Task 1 and 2, explanation of your implementation without showing the complete code and reasoning of the results are indispensable. </a:t>
            </a:r>
            <a:r>
              <a:rPr lang="en-GB" dirty="0"/>
              <a:t>However, showing some short key steps in the code is acceptable.</a:t>
            </a:r>
            <a:endParaRPr lang="en-US"/>
          </a:p>
          <a:p>
            <a:pPr marL="0" indent="0">
              <a:buNone/>
            </a:pPr>
            <a:endParaRPr lang="en-US" dirty="0"/>
          </a:p>
          <a:p>
            <a:pPr marL="0" indent="0">
              <a:buNone/>
            </a:pPr>
            <a:endParaRPr lang="en-GB" dirty="0">
              <a:ea typeface="+mn-lt"/>
              <a:cs typeface="+mn-lt"/>
            </a:endParaRPr>
          </a:p>
          <a:p>
            <a:endParaRPr lang="en-US" dirty="0"/>
          </a:p>
        </p:txBody>
      </p:sp>
    </p:spTree>
    <p:extLst>
      <p:ext uri="{BB962C8B-B14F-4D97-AF65-F5344CB8AC3E}">
        <p14:creationId xmlns:p14="http://schemas.microsoft.com/office/powerpoint/2010/main" val="552631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Grading Rubric</a:t>
            </a:r>
            <a:endParaRPr lang="en-US" dirty="0"/>
          </a:p>
        </p:txBody>
      </p:sp>
      <p:sp>
        <p:nvSpPr>
          <p:cNvPr id="3" name="Content Placeholder 2"/>
          <p:cNvSpPr>
            <a:spLocks noGrp="1"/>
          </p:cNvSpPr>
          <p:nvPr>
            <p:ph idx="1"/>
          </p:nvPr>
        </p:nvSpPr>
        <p:spPr/>
        <p:txBody>
          <a:bodyPr/>
          <a:lstStyle/>
          <a:p>
            <a:r>
              <a:rPr lang="en-GB" dirty="0"/>
              <a:t>Knock-out criteria:</a:t>
            </a:r>
          </a:p>
          <a:p>
            <a:pPr lvl="1">
              <a:buFont typeface="Symbol" panose="05050102010706020507" pitchFamily="18" charset="2"/>
              <a:buChar char=""/>
            </a:pPr>
            <a:r>
              <a:rPr lang="en-GB" dirty="0"/>
              <a:t>The Final Report must be delivered before the specified deadline. If a student group fails to do so, it will receive 0 as a grade. </a:t>
            </a:r>
          </a:p>
          <a:p>
            <a:pPr lvl="1">
              <a:buFont typeface="Symbol" panose="05050102010706020507" pitchFamily="18" charset="2"/>
              <a:buChar char=""/>
            </a:pPr>
            <a:r>
              <a:rPr lang="en-GB" dirty="0"/>
              <a:t>The Final Project report will be provided with a good use of English grammar i.e., the text must be understandable and arguments must be clear. Excellent use of English grammar will </a:t>
            </a:r>
            <a:r>
              <a:rPr lang="en-GB" i="1" dirty="0"/>
              <a:t>not</a:t>
            </a:r>
            <a:r>
              <a:rPr lang="en-GB" dirty="0"/>
              <a:t> render extra points. </a:t>
            </a:r>
          </a:p>
          <a:p>
            <a:pPr lvl="1">
              <a:buFont typeface="Symbol" panose="05050102010706020507" pitchFamily="18" charset="2"/>
              <a:buChar char=""/>
            </a:pPr>
            <a:r>
              <a:rPr lang="en-GB" dirty="0"/>
              <a:t>All students must provide the Python code developed. TAs must check that (one or several parts) runs and produce the described (partially or all the) results on the report. Advanced coding skills will </a:t>
            </a:r>
            <a:r>
              <a:rPr lang="en-GB" i="1" dirty="0"/>
              <a:t>not</a:t>
            </a:r>
            <a:r>
              <a:rPr lang="en-GB" dirty="0"/>
              <a:t> render extra points. </a:t>
            </a:r>
            <a:endParaRPr lang="en-US" dirty="0"/>
          </a:p>
        </p:txBody>
      </p:sp>
    </p:spTree>
    <p:extLst>
      <p:ext uri="{BB962C8B-B14F-4D97-AF65-F5344CB8AC3E}">
        <p14:creationId xmlns:p14="http://schemas.microsoft.com/office/powerpoint/2010/main" val="1053343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Grading Rubric</a:t>
            </a:r>
            <a:endParaRPr lang="en-US" dirty="0"/>
          </a:p>
        </p:txBody>
      </p:sp>
      <p:sp>
        <p:nvSpPr>
          <p:cNvPr id="3" name="Content Placeholder 2"/>
          <p:cNvSpPr>
            <a:spLocks noGrp="1"/>
          </p:cNvSpPr>
          <p:nvPr>
            <p:ph idx="1"/>
          </p:nvPr>
        </p:nvSpPr>
        <p:spPr/>
        <p:txBody>
          <a:bodyPr/>
          <a:lstStyle/>
          <a:p>
            <a:r>
              <a:rPr lang="en-GB" dirty="0"/>
              <a:t>Projects will be assed based on the next criteria and grading weight:</a:t>
            </a:r>
          </a:p>
          <a:p>
            <a:pPr lvl="1">
              <a:buFont typeface="Symbol" panose="05050102010706020507" pitchFamily="18" charset="2"/>
              <a:buChar char=""/>
            </a:pPr>
            <a:r>
              <a:rPr lang="en-GB" dirty="0"/>
              <a:t>Data analysis and pre-processing [10%]</a:t>
            </a:r>
          </a:p>
          <a:p>
            <a:pPr lvl="1">
              <a:buFont typeface="Symbol" panose="05050102010706020507" pitchFamily="18" charset="2"/>
              <a:buChar char=""/>
            </a:pPr>
            <a:r>
              <a:rPr lang="en-GB" dirty="0"/>
              <a:t>Feature selection [15%]</a:t>
            </a:r>
          </a:p>
          <a:p>
            <a:pPr lvl="1">
              <a:buFont typeface="Symbol" panose="05050102010706020507" pitchFamily="18" charset="2"/>
              <a:buChar char=""/>
            </a:pPr>
            <a:r>
              <a:rPr lang="en-GB" dirty="0"/>
              <a:t>Performance indicators (e.g., loss function, error, quantification, convergence criteria) [10%]</a:t>
            </a:r>
          </a:p>
          <a:p>
            <a:pPr lvl="1">
              <a:buFont typeface="Symbol" panose="05050102010706020507" pitchFamily="18" charset="2"/>
              <a:buChar char=""/>
            </a:pPr>
            <a:r>
              <a:rPr lang="en-GB" dirty="0" err="1"/>
              <a:t>Hyperparameter</a:t>
            </a:r>
            <a:r>
              <a:rPr lang="en-GB" dirty="0"/>
              <a:t> tuning [20%]</a:t>
            </a:r>
          </a:p>
          <a:p>
            <a:pPr lvl="1">
              <a:buFont typeface="Symbol" panose="05050102010706020507" pitchFamily="18" charset="2"/>
              <a:buChar char=""/>
            </a:pPr>
            <a:r>
              <a:rPr lang="en-GB" dirty="0"/>
              <a:t>Appropriate use of data [10%]</a:t>
            </a:r>
          </a:p>
          <a:p>
            <a:pPr lvl="1">
              <a:buFont typeface="Symbol" panose="05050102010706020507" pitchFamily="18" charset="2"/>
              <a:buChar char=""/>
            </a:pPr>
            <a:r>
              <a:rPr lang="en-GB" dirty="0"/>
              <a:t>Model selection [20%]</a:t>
            </a:r>
          </a:p>
          <a:p>
            <a:pPr lvl="1">
              <a:buFont typeface="Symbol" panose="05050102010706020507" pitchFamily="18" charset="2"/>
              <a:buChar char=""/>
            </a:pPr>
            <a:r>
              <a:rPr lang="en-GB" dirty="0"/>
              <a:t>Overall coherence of project and report [10%]</a:t>
            </a:r>
          </a:p>
          <a:p>
            <a:pPr lvl="1">
              <a:buFont typeface="Symbol" panose="05050102010706020507" pitchFamily="18" charset="2"/>
              <a:buChar char=""/>
            </a:pPr>
            <a:r>
              <a:rPr lang="en-GB" dirty="0"/>
              <a:t>ML pipeline description [5%]</a:t>
            </a:r>
          </a:p>
          <a:p>
            <a:pPr lvl="1"/>
            <a:endParaRPr lang="en-US" dirty="0"/>
          </a:p>
        </p:txBody>
      </p:sp>
    </p:spTree>
    <p:extLst>
      <p:ext uri="{BB962C8B-B14F-4D97-AF65-F5344CB8AC3E}">
        <p14:creationId xmlns:p14="http://schemas.microsoft.com/office/powerpoint/2010/main" val="164530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sz="3200" dirty="0"/>
              <a:t>Thank you for your attention. </a:t>
            </a:r>
            <a:endParaRPr lang="en-US" sz="3200" dirty="0"/>
          </a:p>
        </p:txBody>
      </p:sp>
      <p:sp>
        <p:nvSpPr>
          <p:cNvPr id="4" name="Subtitle 2"/>
          <p:cNvSpPr txBox="1">
            <a:spLocks/>
          </p:cNvSpPr>
          <p:nvPr/>
        </p:nvSpPr>
        <p:spPr>
          <a:xfrm>
            <a:off x="1880240" y="2914650"/>
            <a:ext cx="5892160" cy="1847850"/>
          </a:xfrm>
          <a:prstGeom prst="rect">
            <a:avLst/>
          </a:prstGeom>
        </p:spPr>
        <p:txBody>
          <a:bodyPr vert="horz" lIns="91440" tIns="45720" rIns="91440" bIns="45720" rtlCol="0">
            <a:noAutofit/>
          </a:bodyPr>
          <a:lstStyle>
            <a:lvl1pPr marL="0" indent="0" algn="l" defTabSz="457200" rtl="0" eaLnBrk="1" latinLnBrk="0" hangingPunct="1">
              <a:spcBef>
                <a:spcPct val="20000"/>
              </a:spcBef>
              <a:buClr>
                <a:srgbClr val="00A6D6"/>
              </a:buClr>
              <a:buFont typeface="Arial"/>
              <a:buNone/>
              <a:defRPr sz="2800" kern="1200">
                <a:solidFill>
                  <a:schemeClr val="tx1"/>
                </a:solidFill>
                <a:latin typeface="Arial"/>
                <a:ea typeface="+mn-ea"/>
                <a:cs typeface="Arial"/>
              </a:defRPr>
            </a:lvl1pPr>
            <a:lvl2pPr marL="457200" indent="0" algn="ctr" defTabSz="457200" rtl="0" eaLnBrk="1" latinLnBrk="0" hangingPunct="1">
              <a:spcBef>
                <a:spcPct val="20000"/>
              </a:spcBef>
              <a:buClr>
                <a:srgbClr val="00A6D6"/>
              </a:buClr>
              <a:buFont typeface="Arial"/>
              <a:buNone/>
              <a:defRPr sz="1800" kern="1200">
                <a:solidFill>
                  <a:schemeClr val="tx1">
                    <a:tint val="75000"/>
                  </a:schemeClr>
                </a:solidFill>
                <a:latin typeface="Arial"/>
                <a:ea typeface="+mn-ea"/>
                <a:cs typeface="Arial"/>
              </a:defRPr>
            </a:lvl2pPr>
            <a:lvl3pPr marL="914400" indent="0" algn="ctr" defTabSz="457200" rtl="0" eaLnBrk="1" latinLnBrk="0" hangingPunct="1">
              <a:spcBef>
                <a:spcPct val="20000"/>
              </a:spcBef>
              <a:buClr>
                <a:srgbClr val="00A6D6"/>
              </a:buClr>
              <a:buFont typeface="Arial"/>
              <a:buNone/>
              <a:defRPr sz="18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GB" sz="1800" dirty="0"/>
              <a:t>Dr. Jochen Cremer</a:t>
            </a:r>
          </a:p>
          <a:p>
            <a:r>
              <a:rPr lang="en-GB" sz="1800" dirty="0"/>
              <a:t>Dr. Pedro P. Vergara </a:t>
            </a:r>
          </a:p>
          <a:p>
            <a:r>
              <a:rPr lang="en-GB" sz="1800" dirty="0"/>
              <a:t>Dr. Justin </a:t>
            </a:r>
            <a:r>
              <a:rPr lang="en-GB" sz="1800" dirty="0" err="1"/>
              <a:t>Dauwels</a:t>
            </a:r>
            <a:endParaRPr lang="en-GB" sz="1800" dirty="0"/>
          </a:p>
          <a:p>
            <a:r>
              <a:rPr lang="en-GB" sz="1800" dirty="0"/>
              <a:t>Paul </a:t>
            </a:r>
            <a:r>
              <a:rPr lang="en-GB" sz="1800" dirty="0" err="1"/>
              <a:t>Bannmuller</a:t>
            </a:r>
            <a:endParaRPr lang="en-GB" sz="1800" dirty="0"/>
          </a:p>
          <a:p>
            <a:r>
              <a:rPr lang="en-GB" sz="1800" dirty="0"/>
              <a:t>Dr. Dong Liu</a:t>
            </a:r>
            <a:endParaRPr lang="en-US" sz="1800" dirty="0"/>
          </a:p>
        </p:txBody>
      </p:sp>
    </p:spTree>
    <p:extLst>
      <p:ext uri="{BB962C8B-B14F-4D97-AF65-F5344CB8AC3E}">
        <p14:creationId xmlns:p14="http://schemas.microsoft.com/office/powerpoint/2010/main" val="3130664391"/>
      </p:ext>
    </p:extLst>
  </p:cSld>
  <p:clrMapOvr>
    <a:masterClrMapping/>
  </p:clrMapOvr>
</p:sld>
</file>

<file path=ppt/theme/theme1.xml><?xml version="1.0" encoding="utf-8"?>
<a:theme xmlns:a="http://schemas.openxmlformats.org/drawingml/2006/main" name="Office Theme">
  <a:themeElements>
    <a:clrScheme name="TU Delft">
      <a:dk1>
        <a:sysClr val="windowText" lastClr="000000"/>
      </a:dk1>
      <a:lt1>
        <a:srgbClr val="FFFFFF"/>
      </a:lt1>
      <a:dk2>
        <a:srgbClr val="00A6D6"/>
      </a:dk2>
      <a:lt2>
        <a:srgbClr val="FFFFFF"/>
      </a:lt2>
      <a:accent1>
        <a:srgbClr val="A5CA1A"/>
      </a:accent1>
      <a:accent2>
        <a:srgbClr val="E21A1A"/>
      </a:accent2>
      <a:accent3>
        <a:srgbClr val="6D177F"/>
      </a:accent3>
      <a:accent4>
        <a:srgbClr val="E64616"/>
      </a:accent4>
      <a:accent5>
        <a:srgbClr val="008891"/>
      </a:accent5>
      <a:accent6>
        <a:srgbClr val="6B8689"/>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28575"/>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D4C26F1451D0A44ABB73FA2C8A0D54B" ma:contentTypeVersion="16" ma:contentTypeDescription="Een nieuw document maken." ma:contentTypeScope="" ma:versionID="02113b7c3d55907196417ad7eba868f3">
  <xsd:schema xmlns:xsd="http://www.w3.org/2001/XMLSchema" xmlns:xs="http://www.w3.org/2001/XMLSchema" xmlns:p="http://schemas.microsoft.com/office/2006/metadata/properties" xmlns:ns2="4579a138-ffa5-4c01-a0fc-376e398031c3" xmlns:ns3="bd624b3d-3944-4cb7-aaa3-5400aebcdaf0" targetNamespace="http://schemas.microsoft.com/office/2006/metadata/properties" ma:root="true" ma:fieldsID="7d755ed015bf71eda87bec7afdbc0c17" ns2:_="" ns3:_="">
    <xsd:import namespace="4579a138-ffa5-4c01-a0fc-376e398031c3"/>
    <xsd:import namespace="bd624b3d-3944-4cb7-aaa3-5400aebcdaf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LengthInSecond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79a138-ffa5-4c01-a0fc-376e39803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0d2f2e1c-c095-4710-afda-8e7acdb03340"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624b3d-3944-4cb7-aaa3-5400aebcdaf0"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2ad2bb22-d4fb-4c9b-ace8-fa0ec5bc61ba}" ma:internalName="TaxCatchAll" ma:showField="CatchAllData" ma:web="bd624b3d-3944-4cb7-aaa3-5400aebcda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79a138-ffa5-4c01-a0fc-376e398031c3">
      <Terms xmlns="http://schemas.microsoft.com/office/infopath/2007/PartnerControls"/>
    </lcf76f155ced4ddcb4097134ff3c332f>
    <TaxCatchAll xmlns="bd624b3d-3944-4cb7-aaa3-5400aebcdaf0" xsi:nil="true"/>
  </documentManagement>
</p:properties>
</file>

<file path=customXml/itemProps1.xml><?xml version="1.0" encoding="utf-8"?>
<ds:datastoreItem xmlns:ds="http://schemas.openxmlformats.org/officeDocument/2006/customXml" ds:itemID="{581AAA6E-686E-4BF7-8C1D-66DE30C6A03F}">
  <ds:schemaRefs>
    <ds:schemaRef ds:uri="http://schemas.microsoft.com/sharepoint/v3/contenttype/forms"/>
  </ds:schemaRefs>
</ds:datastoreItem>
</file>

<file path=customXml/itemProps2.xml><?xml version="1.0" encoding="utf-8"?>
<ds:datastoreItem xmlns:ds="http://schemas.openxmlformats.org/officeDocument/2006/customXml" ds:itemID="{1585FFC1-EDC0-474F-A1F6-BE8762BA52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79a138-ffa5-4c01-a0fc-376e398031c3"/>
    <ds:schemaRef ds:uri="bd624b3d-3944-4cb7-aaa3-5400aebcd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73A762-C5E5-45D8-894F-CF0BFC7DB84F}">
  <ds:schemaRefs>
    <ds:schemaRef ds:uri="http://www.w3.org/XML/1998/namespace"/>
    <ds:schemaRef ds:uri="http://purl.org/dc/terms/"/>
    <ds:schemaRef ds:uri="bd624b3d-3944-4cb7-aaa3-5400aebcdaf0"/>
    <ds:schemaRef ds:uri="http://purl.org/dc/dcmitype/"/>
    <ds:schemaRef ds:uri="4579a138-ffa5-4c01-a0fc-376e398031c3"/>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11550</TotalTime>
  <Words>639</Words>
  <Application>Microsoft Office PowerPoint</Application>
  <PresentationFormat>On-screen Show (16:9)</PresentationFormat>
  <Paragraphs>105</Paragraphs>
  <Slides>10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Symbol</vt:lpstr>
      <vt:lpstr>Tahoma</vt:lpstr>
      <vt:lpstr>Office Theme</vt:lpstr>
      <vt:lpstr>Custom Design</vt:lpstr>
      <vt:lpstr>EE4C12: Machine Learning for Electrical Engineering Applications </vt:lpstr>
      <vt:lpstr>Outline</vt:lpstr>
      <vt:lpstr>Learning Objectives [LOs]</vt:lpstr>
      <vt:lpstr>Project Assignment</vt:lpstr>
      <vt:lpstr>Project Descriptions</vt:lpstr>
      <vt:lpstr>Project Descriptions</vt:lpstr>
      <vt:lpstr>Deliverables</vt:lpstr>
      <vt:lpstr>Grading Rubric</vt:lpstr>
      <vt:lpstr>Grading Rubric</vt:lpstr>
      <vt:lpstr>Thank you for your attention. </vt:lpstr>
    </vt:vector>
  </TitlesOfParts>
  <Company>TU Delft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Saskia de Been</dc:creator>
  <cp:lastModifiedBy>Dong Liu</cp:lastModifiedBy>
  <cp:revision>717</cp:revision>
  <dcterms:created xsi:type="dcterms:W3CDTF">2015-07-09T11:57:30Z</dcterms:created>
  <dcterms:modified xsi:type="dcterms:W3CDTF">2026-09-06T19:00:17Z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0x0101002D4C26F1451D0A44ABB73FA2C8A0D54B</vt:lpwstr>
  </property>
  <property fmtid="{D5CDD505-2E9C-101B-9397-08002B2CF9AE}" pid="3" name="MediaServiceImageTags">
    <vt:lpwstr/>
  </property>
</Properties>
</file>